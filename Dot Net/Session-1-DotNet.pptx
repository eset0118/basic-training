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7"/>
  </p:notesMasterIdLst>
  <p:sldIdLst>
    <p:sldId id="316" r:id="rId2"/>
    <p:sldId id="256" r:id="rId3"/>
    <p:sldId id="257" r:id="rId4"/>
    <p:sldId id="284" r:id="rId5"/>
    <p:sldId id="282" r:id="rId6"/>
    <p:sldId id="280" r:id="rId7"/>
    <p:sldId id="285" r:id="rId8"/>
    <p:sldId id="279" r:id="rId9"/>
    <p:sldId id="286" r:id="rId10"/>
    <p:sldId id="276" r:id="rId11"/>
    <p:sldId id="291" r:id="rId12"/>
    <p:sldId id="290" r:id="rId13"/>
    <p:sldId id="292" r:id="rId14"/>
    <p:sldId id="293" r:id="rId15"/>
    <p:sldId id="283" r:id="rId16"/>
    <p:sldId id="298" r:id="rId17"/>
    <p:sldId id="299" r:id="rId18"/>
    <p:sldId id="275" r:id="rId19"/>
    <p:sldId id="277" r:id="rId20"/>
    <p:sldId id="317" r:id="rId21"/>
    <p:sldId id="271" r:id="rId22"/>
    <p:sldId id="278" r:id="rId23"/>
    <p:sldId id="295" r:id="rId24"/>
    <p:sldId id="294" r:id="rId25"/>
    <p:sldId id="296" r:id="rId26"/>
    <p:sldId id="297" r:id="rId27"/>
    <p:sldId id="274" r:id="rId28"/>
    <p:sldId id="265" r:id="rId29"/>
    <p:sldId id="287" r:id="rId30"/>
    <p:sldId id="288" r:id="rId31"/>
    <p:sldId id="289" r:id="rId32"/>
    <p:sldId id="266" r:id="rId33"/>
    <p:sldId id="267" r:id="rId34"/>
    <p:sldId id="268" r:id="rId35"/>
    <p:sldId id="269" r:id="rId36"/>
  </p:sldIdLst>
  <p:sldSz cx="18288000" cy="10287000"/>
  <p:notesSz cx="6858000" cy="9144000"/>
  <p:embeddedFontLst>
    <p:embeddedFont>
      <p:font typeface="Agrandir" panose="020B0604020202020204" charset="0"/>
      <p:regular r:id="rId38"/>
    </p:embeddedFont>
    <p:embeddedFont>
      <p:font typeface="Assistant Regular" panose="020B0604020202020204" charset="-79"/>
      <p:regular r:id="rId39"/>
    </p:embeddedFont>
    <p:embeddedFont>
      <p:font typeface="Assistant Regular Bold" panose="020B0604020202020204" charset="-79"/>
      <p:regular r:id="rId40"/>
    </p:embeddedFont>
    <p:embeddedFont>
      <p:font typeface="Heebo Black" pitchFamily="2" charset="-79"/>
      <p:regular r:id="rId41"/>
      <p:bold r:id="rId42"/>
    </p:embeddedFont>
    <p:embeddedFont>
      <p:font typeface="HK Modular" panose="020B0604020202020204" charset="0"/>
      <p:regular r:id="rId43"/>
    </p:embeddedFont>
    <p:embeddedFont>
      <p:font typeface="Horizon" panose="020B0604020202020204" charset="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35"/>
    <a:srgbClr val="7A5789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83F2A-5343-79CD-B045-87E6A60A27CD}" v="35" dt="2025-06-09T07:43:09.257"/>
    <p1510:client id="{48913760-2B4B-40AB-BAB1-5B833250FBCA}" v="14" dt="2025-06-09T08:04:28.557"/>
    <p1510:client id="{6217F43D-2A94-46AF-90C1-C85748EC6597}" v="381" dt="2025-06-07T10:14:44.837"/>
    <p1510:client id="{8F40484E-1A4A-44C5-A2E8-9A80D22FC275}" v="109" dt="2025-06-09T08:00:11.245"/>
    <p1510:client id="{C229F99B-91FC-4CCB-AA17-9B031DDDE57D}" v="63" dt="2025-06-07T10:24:52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82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heme" Target="theme/theme1.xml"/><Relationship Id="rId50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2B20E-15F4-4CDB-9F52-C95A37D55520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E6F62-6A4D-4C44-A7D0-9C0BD48D9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65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E6F62-6A4D-4C44-A7D0-9C0BD48D95B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658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5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earn.microsoft.com/en-us/dotnet/core/introduction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4575" y="3668501"/>
            <a:ext cx="13820413" cy="3496605"/>
            <a:chOff x="-1827648" y="-311515"/>
            <a:chExt cx="18427217" cy="4662141"/>
          </a:xfrm>
        </p:grpSpPr>
        <p:sp>
          <p:nvSpPr>
            <p:cNvPr id="3" name="TextBox 3"/>
            <p:cNvSpPr txBox="1"/>
            <p:nvPr/>
          </p:nvSpPr>
          <p:spPr>
            <a:xfrm>
              <a:off x="-1827648" y="-311515"/>
              <a:ext cx="18427217" cy="2228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GB" sz="9600" spc="279" dirty="0">
                  <a:ea typeface="+mn-lt"/>
                  <a:cs typeface="+mn-lt"/>
                  <a:sym typeface="Heebo Black"/>
                </a:rPr>
                <a:t>Foundational Concepts - I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2201945" y="8372217"/>
            <a:ext cx="453425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Calibri"/>
                <a:ea typeface="Agrandir Bold"/>
                <a:cs typeface="Agrandir Bold"/>
                <a:sym typeface="Agrandir Bold"/>
              </a:rPr>
              <a:t>By : </a:t>
            </a:r>
            <a:r>
              <a:rPr lang="en-US" sz="3200" dirty="0">
                <a:latin typeface="Calibri"/>
                <a:ea typeface="Agrandir Bold"/>
                <a:cs typeface="Agrandir Bold"/>
                <a:sym typeface="Agrandir Bold"/>
              </a:rPr>
              <a:t>Mr .Shivam Supekar</a:t>
            </a:r>
            <a:endParaRPr lang="en-US" sz="3200" dirty="0"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</a:t>
            </a:fld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EE1018EE-FD30-B31C-930A-89E29CBD7D15}"/>
              </a:ext>
            </a:extLst>
          </p:cNvPr>
          <p:cNvSpPr txBox="1"/>
          <p:nvPr/>
        </p:nvSpPr>
        <p:spPr>
          <a:xfrm>
            <a:off x="16432940" y="930421"/>
            <a:ext cx="1935631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4000" b="1" dirty="0">
                <a:latin typeface="Calibri"/>
                <a:ea typeface="Agrandir Bold"/>
                <a:cs typeface="Agrandir Bold"/>
              </a:rPr>
              <a:t>1 / 12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B684D5-A6C8-7B04-3CB0-3A26F09C3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171256"/>
            <a:ext cx="7507705" cy="243472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657725" y="1104900"/>
            <a:ext cx="11068050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933992"/>
            <a:chOff x="0" y="0"/>
            <a:chExt cx="7398043" cy="1245322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97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Introduction to .NET</a:t>
              </a:r>
              <a:endParaRPr lang="en-US" sz="2400" dirty="0">
                <a:ea typeface="Calibri"/>
                <a:cs typeface="Calibri"/>
              </a:endParaRP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/>
                <a:t>Data Types, Variables, Operators </a:t>
              </a: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3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/>
              <a:r>
                <a:rPr lang="en-GB" sz="2400" dirty="0"/>
                <a:t>Conditions, Loops </a:t>
              </a:r>
              <a:endParaRPr lang="en-GB" sz="2400" dirty="0">
                <a:solidFill>
                  <a:srgbClr val="33123B"/>
                </a:solidFill>
                <a:latin typeface="Apto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5098" y="5807063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Assignment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17501" y="4375941"/>
            <a:ext cx="5548532" cy="881343"/>
            <a:chOff x="0" y="0"/>
            <a:chExt cx="7398043" cy="1175123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Agrandir"/>
                  <a:cs typeface="Agrandir"/>
                  <a:sym typeface="Agrandir"/>
                </a:rPr>
                <a:t>Use Cases</a:t>
              </a:r>
              <a:endParaRPr lang="en-US" sz="2400" dirty="0">
                <a:solidFill>
                  <a:srgbClr val="33123B"/>
                </a:solidFill>
                <a:latin typeface="Calibri"/>
                <a:ea typeface="Agrandir"/>
                <a:cs typeface="Agrandir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5839637"/>
            <a:ext cx="5548532" cy="881343"/>
            <a:chOff x="0" y="0"/>
            <a:chExt cx="7398043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296" y="96664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</a:t>
            </a:fld>
            <a:endParaRPr lang="en-GB" sz="2000"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2CE40-CDE5-1042-C2BC-9F40C4F76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218ED3D-A5A1-CAE6-CBAA-F0D21EF3C44C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260E4E7-8B16-A2C4-0164-E12A08EBF864}"/>
              </a:ext>
            </a:extLst>
          </p:cNvPr>
          <p:cNvGrpSpPr/>
          <p:nvPr/>
        </p:nvGrpSpPr>
        <p:grpSpPr>
          <a:xfrm>
            <a:off x="2069432" y="2856228"/>
            <a:ext cx="14329357" cy="6924973"/>
            <a:chOff x="-725510" y="-1234013"/>
            <a:chExt cx="18690312" cy="799846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2CCE256-0CEF-F970-5B44-E992D912C650}"/>
                </a:ext>
              </a:extLst>
            </p:cNvPr>
            <p:cNvSpPr txBox="1"/>
            <p:nvPr/>
          </p:nvSpPr>
          <p:spPr>
            <a:xfrm>
              <a:off x="-725510" y="-1234013"/>
              <a:ext cx="18690312" cy="79984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0D2B62A-0BA6-C331-8826-33DCF80603EB}"/>
                </a:ext>
              </a:extLst>
            </p:cNvPr>
            <p:cNvSpPr txBox="1"/>
            <p:nvPr/>
          </p:nvSpPr>
          <p:spPr>
            <a:xfrm>
              <a:off x="0" y="-9525"/>
              <a:ext cx="15443231" cy="536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AE0BD2F-4465-BF81-7FB9-B4183EE1C7D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B73959C-F6CA-0999-B299-B587E9A099F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D86EEA3-C7F6-9FBA-ACB0-39BB482B454A}"/>
              </a:ext>
            </a:extLst>
          </p:cNvPr>
          <p:cNvSpPr txBox="1"/>
          <p:nvPr/>
        </p:nvSpPr>
        <p:spPr>
          <a:xfrm>
            <a:off x="5662044" y="836025"/>
            <a:ext cx="669408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What is .Net?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92BB8B0-81C8-CE0B-DA9D-3C79ABC42A6B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D65D7DC-0FC8-D7BC-E9F2-4E2EC2A9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4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A6C31E0A-005B-22CE-03D9-DB10B3E2546E}"/>
              </a:ext>
            </a:extLst>
          </p:cNvPr>
          <p:cNvSpPr/>
          <p:nvPr/>
        </p:nvSpPr>
        <p:spPr>
          <a:xfrm>
            <a:off x="382516" y="2856228"/>
            <a:ext cx="4259084" cy="6401323"/>
          </a:xfrm>
          <a:prstGeom prst="pent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7C7AA09D-4F77-78E7-8D85-DF4BBDFD6B34}"/>
              </a:ext>
            </a:extLst>
          </p:cNvPr>
          <p:cNvSpPr/>
          <p:nvPr/>
        </p:nvSpPr>
        <p:spPr>
          <a:xfrm>
            <a:off x="13872851" y="2856228"/>
            <a:ext cx="4126031" cy="6401323"/>
          </a:xfrm>
          <a:prstGeom prst="pent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7CA038DB-4502-0512-231C-392D4A91F984}"/>
              </a:ext>
            </a:extLst>
          </p:cNvPr>
          <p:cNvSpPr/>
          <p:nvPr/>
        </p:nvSpPr>
        <p:spPr>
          <a:xfrm>
            <a:off x="9370452" y="2856228"/>
            <a:ext cx="4126031" cy="6401323"/>
          </a:xfrm>
          <a:prstGeom prst="pent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88F78D9A-0A0F-4EFD-E197-E013AC6F335D}"/>
              </a:ext>
            </a:extLst>
          </p:cNvPr>
          <p:cNvSpPr/>
          <p:nvPr/>
        </p:nvSpPr>
        <p:spPr>
          <a:xfrm>
            <a:off x="4851118" y="2856228"/>
            <a:ext cx="4292882" cy="6401323"/>
          </a:xfrm>
          <a:prstGeom prst="pent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1FF2E5-5B53-8787-CEEC-3A7DE8DD67EF}"/>
              </a:ext>
            </a:extLst>
          </p:cNvPr>
          <p:cNvSpPr txBox="1"/>
          <p:nvPr/>
        </p:nvSpPr>
        <p:spPr>
          <a:xfrm>
            <a:off x="5612726" y="4439245"/>
            <a:ext cx="281153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All-in-One Development Platform</a:t>
            </a:r>
          </a:p>
          <a:p>
            <a:pPr algn="ctr"/>
            <a:endParaRPr lang="en-IN" sz="2800" dirty="0"/>
          </a:p>
          <a:p>
            <a:pPr algn="ctr"/>
            <a:r>
              <a:rPr lang="en-US" sz="2800" dirty="0"/>
              <a:t>Use the same tools and libraries to build apps for web, desktop, mobile, IoT, AI, and cloud</a:t>
            </a:r>
            <a:r>
              <a:rPr lang="en-US" sz="3200" dirty="0"/>
              <a:t>.</a:t>
            </a:r>
            <a:endParaRPr lang="en-IN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908DAD-319C-19BD-0754-4F5DA1AB7FC7}"/>
              </a:ext>
            </a:extLst>
          </p:cNvPr>
          <p:cNvSpPr txBox="1"/>
          <p:nvPr/>
        </p:nvSpPr>
        <p:spPr>
          <a:xfrm>
            <a:off x="10024350" y="4755047"/>
            <a:ext cx="28481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Multi-Language Support</a:t>
            </a:r>
          </a:p>
          <a:p>
            <a:pPr algn="ctr"/>
            <a:endParaRPr lang="en-US" sz="3200" b="1" dirty="0"/>
          </a:p>
          <a:p>
            <a:pPr algn="ctr"/>
            <a:r>
              <a:rPr lang="en-US" sz="2800" dirty="0"/>
              <a:t>Compatible with C#, F#, and Visual Basic for flexible coding</a:t>
            </a:r>
            <a:endParaRPr lang="en-US" sz="2800" b="1" dirty="0"/>
          </a:p>
          <a:p>
            <a:pPr algn="ctr"/>
            <a:endParaRPr lang="en-IN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8F66C-2DAD-53A4-676C-02FBD072D7D0}"/>
              </a:ext>
            </a:extLst>
          </p:cNvPr>
          <p:cNvSpPr txBox="1"/>
          <p:nvPr/>
        </p:nvSpPr>
        <p:spPr>
          <a:xfrm>
            <a:off x="14413648" y="4527343"/>
            <a:ext cx="303089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High Performance &amp; Scalable</a:t>
            </a:r>
          </a:p>
          <a:p>
            <a:pPr algn="ctr"/>
            <a:endParaRPr lang="en-US" sz="3200" b="1" dirty="0"/>
          </a:p>
          <a:p>
            <a:pPr algn="ctr"/>
            <a:r>
              <a:rPr lang="en-US" sz="2800" dirty="0"/>
              <a:t>Provides fast, optimized runtime and powerful libraries for enterprise solutions.</a:t>
            </a:r>
            <a:endParaRPr lang="en-US" sz="28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ECE5A7-ED5F-3675-E723-A6FFF87955A4}"/>
              </a:ext>
            </a:extLst>
          </p:cNvPr>
          <p:cNvSpPr txBox="1"/>
          <p:nvPr/>
        </p:nvSpPr>
        <p:spPr>
          <a:xfrm>
            <a:off x="714255" y="4539604"/>
            <a:ext cx="359560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Modern &amp; Open-Source</a:t>
            </a:r>
          </a:p>
          <a:p>
            <a:endParaRPr lang="en-IN" dirty="0"/>
          </a:p>
          <a:p>
            <a:endParaRPr lang="en-IN" dirty="0"/>
          </a:p>
          <a:p>
            <a:pPr algn="ctr"/>
            <a:r>
              <a:rPr lang="en-US" sz="2800" dirty="0"/>
              <a:t>Developed by Microsoft, .NET is a free, open-source platform supported by a global developer community.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6496249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1FB95-025C-CFA7-5D3D-4A6C5BA9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52D118-56F4-F079-17F9-5B9F2BE4573D}"/>
              </a:ext>
            </a:extLst>
          </p:cNvPr>
          <p:cNvSpPr/>
          <p:nvPr/>
        </p:nvSpPr>
        <p:spPr>
          <a:xfrm>
            <a:off x="-201016" y="-153446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2F265CF-F115-67BA-D509-584D3E1A598A}"/>
              </a:ext>
            </a:extLst>
          </p:cNvPr>
          <p:cNvGrpSpPr/>
          <p:nvPr/>
        </p:nvGrpSpPr>
        <p:grpSpPr>
          <a:xfrm>
            <a:off x="1028700" y="2571932"/>
            <a:ext cx="16465216" cy="6451751"/>
            <a:chOff x="0" y="-5751"/>
            <a:chExt cx="13673324" cy="283303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6369D00-FE7C-696D-9CCB-03EC865712F0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B484C56-F99D-2FBE-8F60-4A5757E40679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D0C505D-31AF-3677-1B73-B2562E3C46A9}"/>
                </a:ext>
              </a:extLst>
            </p:cNvPr>
            <p:cNvSpPr txBox="1"/>
            <p:nvPr/>
          </p:nvSpPr>
          <p:spPr>
            <a:xfrm>
              <a:off x="0" y="688706"/>
              <a:ext cx="13250213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C87CE56-6032-B5EB-8F14-49CA847E9BB6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7B9728E-4E88-9D09-0883-495C9792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5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8048F-9557-F796-D289-D9DD0CFFB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067718"/>
            <a:ext cx="16802100" cy="86536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859893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18D4-DCFF-3D87-409C-71DC3BC54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A599EB-7F54-5D27-982E-4486F1FFBB49}"/>
              </a:ext>
            </a:extLst>
          </p:cNvPr>
          <p:cNvSpPr/>
          <p:nvPr/>
        </p:nvSpPr>
        <p:spPr>
          <a:xfrm>
            <a:off x="-1766991" y="171259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D759DF3-F505-6A64-434A-8A772201CE1C}"/>
              </a:ext>
            </a:extLst>
          </p:cNvPr>
          <p:cNvGrpSpPr/>
          <p:nvPr/>
        </p:nvGrpSpPr>
        <p:grpSpPr>
          <a:xfrm>
            <a:off x="949618" y="1712592"/>
            <a:ext cx="16179263" cy="8139658"/>
            <a:chOff x="-2016015" y="-1234013"/>
            <a:chExt cx="21103213" cy="940144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EE92EA0-9836-A658-010F-81F5D39B291A}"/>
                </a:ext>
              </a:extLst>
            </p:cNvPr>
            <p:cNvSpPr txBox="1"/>
            <p:nvPr/>
          </p:nvSpPr>
          <p:spPr>
            <a:xfrm>
              <a:off x="-1742755" y="-1234013"/>
              <a:ext cx="20829953" cy="79984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B56797C-B03C-D78F-2301-0201798A47EA}"/>
                </a:ext>
              </a:extLst>
            </p:cNvPr>
            <p:cNvSpPr txBox="1"/>
            <p:nvPr/>
          </p:nvSpPr>
          <p:spPr>
            <a:xfrm>
              <a:off x="-2016015" y="-1129299"/>
              <a:ext cx="21103213" cy="9296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3200" dirty="0"/>
                <a:t>🔹 </a:t>
              </a:r>
              <a:r>
                <a:rPr lang="en-IN" sz="3200" b="1" dirty="0"/>
                <a:t>Why Multiple Languages?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/>
                <a:t>🌟   </a:t>
              </a:r>
              <a:r>
                <a:rPr lang="en-IN" sz="3200" b="1" dirty="0"/>
                <a:t>Developer Choice</a:t>
              </a:r>
              <a:br>
                <a:rPr lang="en-IN" sz="3200" dirty="0"/>
              </a:br>
              <a:r>
                <a:rPr lang="en-IN" sz="3200" dirty="0"/>
                <a:t>		→ Choose preferred language for productivity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/>
                <a:t>🌟  </a:t>
              </a:r>
              <a:r>
                <a:rPr lang="en-IN" sz="3200" b="1" dirty="0"/>
                <a:t>Legacy Code Support</a:t>
              </a:r>
              <a:br>
                <a:rPr lang="en-IN" sz="3200" dirty="0"/>
              </a:br>
              <a:r>
                <a:rPr lang="en-IN" sz="3200" dirty="0"/>
                <a:t>		→ VB.NET and F# still widely used in enterprise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/>
                <a:t>🌟  </a:t>
              </a:r>
              <a:r>
                <a:rPr lang="en-IN" sz="3200" b="1" dirty="0"/>
                <a:t>Programming Paradigms</a:t>
              </a:r>
              <a:br>
                <a:rPr lang="en-IN" sz="3200" dirty="0"/>
              </a:br>
              <a:r>
                <a:rPr lang="en-IN" sz="3200" dirty="0"/>
                <a:t>		→ Support both </a:t>
              </a:r>
              <a:r>
                <a:rPr lang="en-IN" sz="3200" b="1" dirty="0"/>
                <a:t>OOP</a:t>
              </a:r>
              <a:r>
                <a:rPr lang="en-IN" sz="3200" dirty="0"/>
                <a:t> (C#/VB.NET) and </a:t>
              </a:r>
              <a:r>
                <a:rPr lang="en-IN" sz="3200" b="1" dirty="0"/>
                <a:t>Functional</a:t>
              </a:r>
              <a:r>
                <a:rPr lang="en-IN" sz="3200" dirty="0"/>
                <a:t> (F#)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/>
                <a:t>🌟  </a:t>
              </a:r>
              <a:r>
                <a:rPr lang="en-IN" sz="3200" b="1" dirty="0"/>
                <a:t>Unified Runtime (CLR)</a:t>
              </a:r>
              <a:br>
                <a:rPr lang="en-IN" sz="3200" dirty="0"/>
              </a:br>
              <a:r>
                <a:rPr lang="en-IN" sz="3200" dirty="0"/>
                <a:t>		→ All compile to </a:t>
              </a:r>
              <a:r>
                <a:rPr lang="en-IN" sz="3200" b="1" dirty="0"/>
                <a:t>CIL</a:t>
              </a:r>
              <a:r>
                <a:rPr lang="en-IN" sz="3200" dirty="0"/>
                <a:t>, run on same .NET platform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/>
                <a:t>🌟  </a:t>
              </a:r>
              <a:r>
                <a:rPr lang="en-IN" sz="3200" b="1" dirty="0"/>
                <a:t>Interoperability</a:t>
              </a:r>
              <a:br>
                <a:rPr lang="en-IN" sz="3200" dirty="0"/>
              </a:br>
              <a:r>
                <a:rPr lang="en-IN" sz="3200" dirty="0"/>
                <a:t>		→ Mix and match components in different languages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F405B2A-A429-BD19-1E34-6A0DD504629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DC17A49-A892-1BFB-EB40-87014203421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13F1145-0640-91FC-09BB-BBC343A5A2A5}"/>
              </a:ext>
            </a:extLst>
          </p:cNvPr>
          <p:cNvSpPr txBox="1"/>
          <p:nvPr/>
        </p:nvSpPr>
        <p:spPr>
          <a:xfrm>
            <a:off x="128751" y="214415"/>
            <a:ext cx="181849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8500" b="1" dirty="0" err="1">
                <a:ea typeface="+mn-lt"/>
                <a:cs typeface="+mn-lt"/>
                <a:sym typeface="Heebo Black"/>
              </a:rPr>
              <a:t>.Net</a:t>
            </a:r>
            <a:r>
              <a:rPr lang="en-GB" sz="8500" b="1" dirty="0">
                <a:ea typeface="+mn-lt"/>
                <a:cs typeface="+mn-lt"/>
                <a:sym typeface="Heebo Black"/>
              </a:rPr>
              <a:t> Supports Multiple Languages</a:t>
            </a:r>
            <a:endParaRPr lang="en-US" sz="8500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DA2EA41-02A5-1375-17B4-9F07F79E0AAF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AB8752A-9FFB-F2CE-9C4B-2A4A144B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6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51162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2AFAA-D1AD-7988-C0F2-B7E605A3C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40D3CD-8685-1735-FCFF-E2B3FA6AD83D}"/>
              </a:ext>
            </a:extLst>
          </p:cNvPr>
          <p:cNvSpPr/>
          <p:nvPr/>
        </p:nvSpPr>
        <p:spPr>
          <a:xfrm>
            <a:off x="-1766991" y="171259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C70F4A-025F-EFCA-141F-C50FDA26EFE9}"/>
              </a:ext>
            </a:extLst>
          </p:cNvPr>
          <p:cNvGrpSpPr/>
          <p:nvPr/>
        </p:nvGrpSpPr>
        <p:grpSpPr>
          <a:xfrm>
            <a:off x="949618" y="1712592"/>
            <a:ext cx="16179263" cy="6924972"/>
            <a:chOff x="-2016015" y="-1234013"/>
            <a:chExt cx="21103213" cy="799846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DFE831D-4BA9-32B5-F185-AACBADA96D3E}"/>
                </a:ext>
              </a:extLst>
            </p:cNvPr>
            <p:cNvSpPr txBox="1"/>
            <p:nvPr/>
          </p:nvSpPr>
          <p:spPr>
            <a:xfrm>
              <a:off x="-1742755" y="-1234013"/>
              <a:ext cx="20829953" cy="79984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D5612A0-7A13-2642-30A3-3D3AE096BC44}"/>
                </a:ext>
              </a:extLst>
            </p:cNvPr>
            <p:cNvSpPr txBox="1"/>
            <p:nvPr/>
          </p:nvSpPr>
          <p:spPr>
            <a:xfrm>
              <a:off x="-2016015" y="-1129299"/>
              <a:ext cx="21103213" cy="7650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endParaRPr lang="en-IN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3DAA0C2-2949-9983-1A14-9CB224291C6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AACA838-5BE6-C02C-9870-FC9E3B9CAAFA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8E99C07-2E82-8552-D133-0A9076FEC2CA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EB8D52B-64D6-6F47-AB32-BB6471A6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7</a:t>
            </a:fld>
            <a:endParaRPr lang="en-GB" sz="2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932AB5-88C7-9160-03D4-07330545C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134174"/>
              </p:ext>
            </p:extLst>
          </p:nvPr>
        </p:nvGraphicFramePr>
        <p:xfrm>
          <a:off x="1028700" y="539262"/>
          <a:ext cx="16357356" cy="95954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89339">
                  <a:extLst>
                    <a:ext uri="{9D8B030D-6E8A-4147-A177-3AD203B41FA5}">
                      <a16:colId xmlns:a16="http://schemas.microsoft.com/office/drawing/2014/main" val="1042144162"/>
                    </a:ext>
                  </a:extLst>
                </a:gridCol>
                <a:gridCol w="4089339">
                  <a:extLst>
                    <a:ext uri="{9D8B030D-6E8A-4147-A177-3AD203B41FA5}">
                      <a16:colId xmlns:a16="http://schemas.microsoft.com/office/drawing/2014/main" val="1520319818"/>
                    </a:ext>
                  </a:extLst>
                </a:gridCol>
                <a:gridCol w="4089339">
                  <a:extLst>
                    <a:ext uri="{9D8B030D-6E8A-4147-A177-3AD203B41FA5}">
                      <a16:colId xmlns:a16="http://schemas.microsoft.com/office/drawing/2014/main" val="4017795319"/>
                    </a:ext>
                  </a:extLst>
                </a:gridCol>
                <a:gridCol w="4089339">
                  <a:extLst>
                    <a:ext uri="{9D8B030D-6E8A-4147-A177-3AD203B41FA5}">
                      <a16:colId xmlns:a16="http://schemas.microsoft.com/office/drawing/2014/main" val="325421690"/>
                    </a:ext>
                  </a:extLst>
                </a:gridCol>
              </a:tblGrid>
              <a:tr h="1919090">
                <a:tc>
                  <a:txBody>
                    <a:bodyPr/>
                    <a:lstStyle/>
                    <a:p>
                      <a:endParaRPr lang="en-IN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r>
                        <a:rPr lang="en-US" sz="4000" dirty="0">
                          <a:solidFill>
                            <a:schemeClr val="bg1"/>
                          </a:solidFill>
                        </a:rPr>
                        <a:t>C#</a:t>
                      </a:r>
                      <a:endParaRPr lang="en-IN" sz="4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solidFill>
                          <a:srgbClr val="00B050"/>
                        </a:solidFill>
                      </a:endParaRPr>
                    </a:p>
                    <a:p>
                      <a:pPr algn="ctr"/>
                      <a:r>
                        <a:rPr lang="en-US" sz="4000" dirty="0">
                          <a:solidFill>
                            <a:schemeClr val="bg1"/>
                          </a:solidFill>
                        </a:rPr>
                        <a:t>F#</a:t>
                      </a:r>
                      <a:endParaRPr lang="en-IN" sz="4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4000" dirty="0">
                          <a:solidFill>
                            <a:schemeClr val="bg1"/>
                          </a:solidFill>
                        </a:rPr>
                        <a:t>VB.NET</a:t>
                      </a:r>
                      <a:endParaRPr lang="en-IN" sz="4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683877"/>
                  </a:ext>
                </a:extLst>
              </a:tr>
              <a:tr h="191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Modern apps, Web,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Data, AI,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Legacy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6063699"/>
                  </a:ext>
                </a:extLst>
              </a:tr>
              <a:tr h="191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Paradigm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Object-Oriented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Functional-first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Object-Oriented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522102"/>
                  </a:ext>
                </a:extLst>
              </a:tr>
              <a:tr h="191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Strengths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Rich tooling, huge community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Concise, immutable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Easy syntax, readable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862439"/>
                  </a:ext>
                </a:extLst>
              </a:tr>
              <a:tr h="191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Actively developed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Actively 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Maintenance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513080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433CD9-8A4B-67B5-518D-33E42CE8F767}"/>
              </a:ext>
            </a:extLst>
          </p:cNvPr>
          <p:cNvCxnSpPr>
            <a:cxnSpLocks/>
          </p:cNvCxnSpPr>
          <p:nvPr/>
        </p:nvCxnSpPr>
        <p:spPr>
          <a:xfrm>
            <a:off x="949618" y="2465613"/>
            <a:ext cx="164364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80137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FEBC3-09C3-BDB7-D61B-DAD67BC1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83D9D2-15E6-D522-EEC4-FA25D219E2A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F2AB4FC-0187-1355-B292-319E1343662B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2E42AB0-96BA-A6CD-443E-9D5C3CE56568}"/>
              </a:ext>
            </a:extLst>
          </p:cNvPr>
          <p:cNvGrpSpPr/>
          <p:nvPr/>
        </p:nvGrpSpPr>
        <p:grpSpPr>
          <a:xfrm>
            <a:off x="2069432" y="2856228"/>
            <a:ext cx="14329357" cy="1525019"/>
            <a:chOff x="-725510" y="-1234013"/>
            <a:chExt cx="18690312" cy="176142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58BEB90-755E-78DD-0F90-74C2B2E97F02}"/>
                </a:ext>
              </a:extLst>
            </p:cNvPr>
            <p:cNvSpPr txBox="1"/>
            <p:nvPr/>
          </p:nvSpPr>
          <p:spPr>
            <a:xfrm>
              <a:off x="-725510" y="-1234013"/>
              <a:ext cx="18690312" cy="5332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FEB2F2A-90BA-7DF9-C313-0D5250D73ED2}"/>
                </a:ext>
              </a:extLst>
            </p:cNvPr>
            <p:cNvSpPr txBox="1"/>
            <p:nvPr/>
          </p:nvSpPr>
          <p:spPr>
            <a:xfrm>
              <a:off x="0" y="-9525"/>
              <a:ext cx="15443231" cy="536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6A2AD66-C62A-7D94-D635-131D74C5C25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752134-F408-41BA-D901-CAA1B152A46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70D8B99-5BCE-6B66-80B9-5AFB69252A3C}"/>
              </a:ext>
            </a:extLst>
          </p:cNvPr>
          <p:cNvSpPr txBox="1"/>
          <p:nvPr/>
        </p:nvSpPr>
        <p:spPr>
          <a:xfrm>
            <a:off x="1939214" y="390363"/>
            <a:ext cx="15189868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 .NET vs ASP.NET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63152CC-1910-ECF2-01EF-BAD60FF61B58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AFA39D8-31C5-A7BD-547A-49A4AB93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8</a:t>
            </a:fld>
            <a:endParaRPr lang="en-GB" sz="200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494516B-1B03-9327-9295-52C3C0EB3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039002"/>
              </p:ext>
            </p:extLst>
          </p:nvPr>
        </p:nvGraphicFramePr>
        <p:xfrm>
          <a:off x="1808997" y="1888540"/>
          <a:ext cx="15450303" cy="755626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150101">
                  <a:extLst>
                    <a:ext uri="{9D8B030D-6E8A-4147-A177-3AD203B41FA5}">
                      <a16:colId xmlns:a16="http://schemas.microsoft.com/office/drawing/2014/main" val="2566697593"/>
                    </a:ext>
                  </a:extLst>
                </a:gridCol>
                <a:gridCol w="5150101">
                  <a:extLst>
                    <a:ext uri="{9D8B030D-6E8A-4147-A177-3AD203B41FA5}">
                      <a16:colId xmlns:a16="http://schemas.microsoft.com/office/drawing/2014/main" val="3364543526"/>
                    </a:ext>
                  </a:extLst>
                </a:gridCol>
                <a:gridCol w="5150101">
                  <a:extLst>
                    <a:ext uri="{9D8B030D-6E8A-4147-A177-3AD203B41FA5}">
                      <a16:colId xmlns:a16="http://schemas.microsoft.com/office/drawing/2014/main" val="2817171"/>
                    </a:ext>
                  </a:extLst>
                </a:gridCol>
              </a:tblGrid>
              <a:tr h="661620">
                <a:tc>
                  <a:txBody>
                    <a:bodyPr/>
                    <a:lstStyle/>
                    <a:p>
                      <a:r>
                        <a:rPr lang="en-IN" sz="4000" dirty="0"/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.NET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ASP.NET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353969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 dirty="0"/>
                        <a:t>Definition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 software development platform/framework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 web development framework within .NET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216845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 dirty="0"/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Used to build all types of applications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Specifically used to build web applications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8711207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 dirty="0"/>
                        <a:t>Application Types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Desktop, mobile, cloud, gaming, web,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Web applications (websites, web APIs, etc.)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679593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 dirty="0"/>
                        <a:t>Includes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CLR, class libraries, languages (C#, VB.NET)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Libraries and tools for web development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511613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 dirty="0"/>
                        <a:t>Framework Types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General-purpose framework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Specialized framework under the .NET umbrella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423339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 dirty="0"/>
                        <a:t>Examples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3200" dirty="0"/>
                        <a:t>WinForms, WPF, Console apps, etc.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ASP.NET MVC, ASP.NET Web Forms, Razor Pages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5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04510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9AA34-D286-E40C-4B4A-20526277C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0CB36A-247D-95DE-7275-FB381A202A9F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2451168-005D-098E-4A3C-57DC3AFC1BED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F78A722-5CF3-2D0C-7A2B-E784BDA77EF7}"/>
              </a:ext>
            </a:extLst>
          </p:cNvPr>
          <p:cNvGrpSpPr/>
          <p:nvPr/>
        </p:nvGrpSpPr>
        <p:grpSpPr>
          <a:xfrm>
            <a:off x="1979321" y="1569107"/>
            <a:ext cx="14329357" cy="8445389"/>
            <a:chOff x="-843045" y="-2720660"/>
            <a:chExt cx="18690312" cy="975456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FCA10CD-9D48-5DDC-4B0D-F85A6D592DEF}"/>
                </a:ext>
              </a:extLst>
            </p:cNvPr>
            <p:cNvSpPr txBox="1"/>
            <p:nvPr/>
          </p:nvSpPr>
          <p:spPr>
            <a:xfrm>
              <a:off x="-843045" y="-2720660"/>
              <a:ext cx="18690312" cy="97545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sz="3000" dirty="0"/>
                <a:t>.</a:t>
              </a:r>
              <a:r>
                <a:rPr lang="en-IN" sz="4000" dirty="0"/>
                <a:t>NET Runtime (CLR)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sz="4000" dirty="0"/>
                <a:t>.NET Class Library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sz="4000" dirty="0"/>
                <a:t>Languages (C#, F#, VB.NET)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GB" sz="4000" dirty="0">
                  <a:ea typeface="Calibri"/>
                  <a:cs typeface="Calibri"/>
                </a:rPr>
                <a:t>Asp.NET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GB" sz="4000" dirty="0">
                  <a:ea typeface="Calibri"/>
                  <a:cs typeface="Calibri"/>
                </a:rPr>
                <a:t>Entity Framework(EF CORE)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GB" sz="4000" dirty="0">
                  <a:ea typeface="Calibri"/>
                  <a:cs typeface="Calibri"/>
                </a:rPr>
                <a:t>.NET SDK AND CLI TOLS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GB" sz="4000" dirty="0">
                  <a:ea typeface="Calibri"/>
                  <a:cs typeface="Calibri"/>
                </a:rPr>
                <a:t>Cross-Platform Support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28E88D3-FCEE-4DB7-CA8C-A5259CD1C4B6}"/>
                </a:ext>
              </a:extLst>
            </p:cNvPr>
            <p:cNvSpPr txBox="1"/>
            <p:nvPr/>
          </p:nvSpPr>
          <p:spPr>
            <a:xfrm>
              <a:off x="0" y="-9526"/>
              <a:ext cx="15443231" cy="536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89A5A9D-3BB6-349E-62B1-E7E3D5D68F08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BBC43DA-57B2-9968-857F-9C1B6E9E250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8869C0B-B0A5-BC59-EDBC-4D4B7B75E993}"/>
              </a:ext>
            </a:extLst>
          </p:cNvPr>
          <p:cNvSpPr txBox="1"/>
          <p:nvPr/>
        </p:nvSpPr>
        <p:spPr>
          <a:xfrm>
            <a:off x="4183742" y="327178"/>
            <a:ext cx="1063422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Components Of 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41B6CF8-3AAB-B253-F180-671BA8DB7EB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4A8E5DF-3FEE-02C5-AA59-A870D296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9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65982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ABFB4-7B94-3ACF-BEC2-5FE04CB54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9B6B50-6DE7-9B11-5539-0B68C784BE61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510C3D0-84C2-4953-5500-C01B057A2500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48F6628-F797-554C-6D46-B90DE820F244}"/>
              </a:ext>
            </a:extLst>
          </p:cNvPr>
          <p:cNvGrpSpPr/>
          <p:nvPr/>
        </p:nvGrpSpPr>
        <p:grpSpPr>
          <a:xfrm>
            <a:off x="2069432" y="2856228"/>
            <a:ext cx="14329357" cy="1679883"/>
            <a:chOff x="-725510" y="-1234013"/>
            <a:chExt cx="18690312" cy="194029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FC74FA1-5D4C-D50E-2BDB-BB85F6190BA5}"/>
                </a:ext>
              </a:extLst>
            </p:cNvPr>
            <p:cNvSpPr txBox="1"/>
            <p:nvPr/>
          </p:nvSpPr>
          <p:spPr>
            <a:xfrm>
              <a:off x="-725510" y="-1234013"/>
              <a:ext cx="18690312" cy="9171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733CF78-1F78-B188-AA06-EE47F75FEABB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9EB4005-9BDB-93E4-4783-BA2581D2956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1E5AF84-3975-B321-4C73-F1D51E9F0BD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2248C40-3131-5EE8-149F-23998DEA31F4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81ED64C-BBB1-5BE4-8135-058F2975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10</a:t>
            </a:fld>
            <a:endParaRPr lang="en-GB" sz="2000"/>
          </a:p>
        </p:txBody>
      </p:sp>
      <p:pic>
        <p:nvPicPr>
          <p:cNvPr id="1026" name="Picture 2" descr="net framework">
            <a:extLst>
              <a:ext uri="{FF2B5EF4-FFF2-40B4-BE49-F238E27FC236}">
                <a16:creationId xmlns:a16="http://schemas.microsoft.com/office/drawing/2014/main" id="{78D08936-8492-FDD0-4A32-AC72880A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900" y="334852"/>
            <a:ext cx="15443400" cy="961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6427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C793-9A59-D735-5A10-D59307A2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FB733C-FB0F-CFD9-E456-6C4A1564EEB0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63D5A0A-3F91-23CB-A89A-70079B126BF3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88B7282-9376-9004-BF59-29CD625465E5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9ABA38-617D-C1B9-6710-FD2B7BF9620B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F937918-FD95-25D4-844F-AC4A0E128FD4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F55EE25-6E15-E9E9-FDFE-4C4BA0812D2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79693E-EA56-39ED-4177-19A41A9D3A20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1523035-1991-9355-F29A-A8B5A27E012A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95CC57E-EBD5-7222-6315-61890068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11</a:t>
            </a:fld>
            <a:endParaRPr lang="en-GB" sz="2000"/>
          </a:p>
        </p:txBody>
      </p:sp>
      <p:pic>
        <p:nvPicPr>
          <p:cNvPr id="2056" name="Picture 8" descr="Thinking Face Vector Art, Icons, and ...">
            <a:extLst>
              <a:ext uri="{FF2B5EF4-FFF2-40B4-BE49-F238E27FC236}">
                <a16:creationId xmlns:a16="http://schemas.microsoft.com/office/drawing/2014/main" id="{BA1AB7CF-F4A4-C3FC-0957-CE88EC5F4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877" y="148432"/>
            <a:ext cx="16357388" cy="9986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BC1B9C-089B-3FEB-29FA-D61937C238A2}"/>
              </a:ext>
            </a:extLst>
          </p:cNvPr>
          <p:cNvSpPr txBox="1"/>
          <p:nvPr/>
        </p:nvSpPr>
        <p:spPr>
          <a:xfrm>
            <a:off x="2992994" y="1020407"/>
            <a:ext cx="528241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/>
              <a:t>When you write C# code, how does your computer actually understand it?</a:t>
            </a:r>
            <a:endParaRPr lang="en-IN" sz="3800" b="1" dirty="0"/>
          </a:p>
          <a:p>
            <a:pPr algn="ctr"/>
            <a:endParaRPr lang="en-IN" sz="3800" dirty="0"/>
          </a:p>
        </p:txBody>
      </p:sp>
    </p:spTree>
    <p:extLst>
      <p:ext uri="{BB962C8B-B14F-4D97-AF65-F5344CB8AC3E}">
        <p14:creationId xmlns:p14="http://schemas.microsoft.com/office/powerpoint/2010/main" val="214326731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E53E6-E1B4-BD68-BE87-87146BD8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197638-66D9-E36A-71B3-5D3B74238AA3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0DA54C6-F0D8-DBD3-5172-9D0E8539F15F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CC11218-C1AB-0B34-E44F-2DFECFAC16F7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5DB67D5-89B5-9C1A-8EF4-667CD6669076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04AD128-92C5-90BE-7872-8E4E43573DEF}"/>
                </a:ext>
              </a:extLst>
            </p:cNvPr>
            <p:cNvSpPr txBox="1"/>
            <p:nvPr/>
          </p:nvSpPr>
          <p:spPr>
            <a:xfrm>
              <a:off x="0" y="-9525"/>
              <a:ext cx="15443231" cy="149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70F4C25-3F1F-0A1B-6A22-31C0C2BB01A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7BB093-D8DC-EE2D-8DF6-9B047BBE8916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EDA2C57-3782-6F76-1422-08A0EBE4E794}"/>
              </a:ext>
            </a:extLst>
          </p:cNvPr>
          <p:cNvSpPr txBox="1"/>
          <p:nvPr/>
        </p:nvSpPr>
        <p:spPr>
          <a:xfrm>
            <a:off x="1804385" y="255504"/>
            <a:ext cx="1571173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CLR-The Heart of 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D599464-33A1-6903-D4F5-AEE1351AF15A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3DB03EE-8C2D-811D-8DAF-51638330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12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2058" name="Picture 10" descr="Greeting Emoji PNG Images - CleanPNG">
            <a:extLst>
              <a:ext uri="{FF2B5EF4-FFF2-40B4-BE49-F238E27FC236}">
                <a16:creationId xmlns:a16="http://schemas.microsoft.com/office/drawing/2014/main" id="{C4EFA87F-139B-CD52-6449-B9CECADD1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309" y="4965577"/>
            <a:ext cx="4079458" cy="4550825"/>
          </a:xfrm>
          <a:prstGeom prst="rect">
            <a:avLst/>
          </a:prstGeom>
          <a:solidFill>
            <a:srgbClr val="002060"/>
          </a:solidFill>
        </p:spPr>
      </p:pic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059B89C1-C5D8-FEB3-3A25-0BD69A7A7C0B}"/>
              </a:ext>
            </a:extLst>
          </p:cNvPr>
          <p:cNvSpPr/>
          <p:nvPr/>
        </p:nvSpPr>
        <p:spPr>
          <a:xfrm>
            <a:off x="4012579" y="2346572"/>
            <a:ext cx="4596063" cy="2619005"/>
          </a:xfrm>
          <a:prstGeom prst="wedgeEllipse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727BB1-8217-8072-603D-07C67002A046}"/>
              </a:ext>
            </a:extLst>
          </p:cNvPr>
          <p:cNvSpPr txBox="1"/>
          <p:nvPr/>
        </p:nvSpPr>
        <p:spPr>
          <a:xfrm>
            <a:off x="4419059" y="3098382"/>
            <a:ext cx="43971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Hey! , I Am CLR</a:t>
            </a:r>
            <a:endParaRPr lang="en-IN" sz="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E6108A-FBE2-B0EC-8506-A6C56F0A9B80}"/>
              </a:ext>
            </a:extLst>
          </p:cNvPr>
          <p:cNvSpPr txBox="1"/>
          <p:nvPr/>
        </p:nvSpPr>
        <p:spPr>
          <a:xfrm>
            <a:off x="8734925" y="2183563"/>
            <a:ext cx="810928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FF0000"/>
                </a:solidFill>
              </a:rPr>
              <a:t>Meet the </a:t>
            </a:r>
            <a:r>
              <a:rPr lang="en-US" sz="5000" b="1" dirty="0">
                <a:solidFill>
                  <a:srgbClr val="FF0000"/>
                </a:solidFill>
              </a:rPr>
              <a:t>CLR — the Common Language Runtime. </a:t>
            </a:r>
          </a:p>
          <a:p>
            <a:pPr algn="ctr"/>
            <a:endParaRPr lang="en-US" sz="5000" b="1" dirty="0"/>
          </a:p>
          <a:p>
            <a:pPr algn="ctr"/>
            <a:endParaRPr lang="en-US" sz="5000" dirty="0"/>
          </a:p>
          <a:p>
            <a:pPr algn="ctr"/>
            <a:r>
              <a:rPr lang="en-US" sz="5000" dirty="0"/>
              <a:t>Think of it as the </a:t>
            </a:r>
            <a:r>
              <a:rPr lang="en-US" sz="5000" b="1" dirty="0"/>
              <a:t>interpreter, manager, and bodyguard</a:t>
            </a:r>
            <a:r>
              <a:rPr lang="en-US" sz="5000" dirty="0"/>
              <a:t> for your code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249670872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6C72-C98A-9D64-A06C-97CA23FF9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FD0CF1-D46C-0F04-7B0B-04517C1023A9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257A65A-27C5-C2E8-FDAE-FC347A02D398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288B86F-9439-9A50-2AAD-A3D320C36CFD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35C94E7-2A66-D801-F012-054B00D36FE5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01AAEA0-0760-CB09-373E-8037E06FBC9A}"/>
                </a:ext>
              </a:extLst>
            </p:cNvPr>
            <p:cNvSpPr txBox="1"/>
            <p:nvPr/>
          </p:nvSpPr>
          <p:spPr>
            <a:xfrm>
              <a:off x="0" y="-9525"/>
              <a:ext cx="15443231" cy="149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8043283-2AB0-F620-EFA9-B1963B8C950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53BC009-071C-3484-91DA-0093233A309B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DBA32BF-BF93-FD76-674B-BF00FC89A797}"/>
              </a:ext>
            </a:extLst>
          </p:cNvPr>
          <p:cNvSpPr txBox="1"/>
          <p:nvPr/>
        </p:nvSpPr>
        <p:spPr>
          <a:xfrm>
            <a:off x="1804385" y="255504"/>
            <a:ext cx="1571173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CLR-The Heart of 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5BE830F-D1A8-66B7-69C1-9AF3A5F1D193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42D202-E958-651F-9CE1-5F586D2A4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13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182F9-7F71-DBD9-D84C-6AC9DBB98BB0}"/>
              </a:ext>
            </a:extLst>
          </p:cNvPr>
          <p:cNvSpPr txBox="1"/>
          <p:nvPr/>
        </p:nvSpPr>
        <p:spPr>
          <a:xfrm>
            <a:off x="1804034" y="1470814"/>
            <a:ext cx="15711739" cy="7896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b="1" u="sng" dirty="0"/>
              <a:t>Interpreter</a:t>
            </a:r>
            <a:r>
              <a:rPr lang="en-US" sz="3800" dirty="0"/>
              <a:t> – Translates your IL (Intermediate Language) into native machine instructions using the </a:t>
            </a:r>
            <a:r>
              <a:rPr lang="en-US" sz="3800" b="1" dirty="0"/>
              <a:t>JIT Compiler</a:t>
            </a:r>
            <a:endParaRPr lang="en-US" sz="38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b="1" u="sng" dirty="0"/>
              <a:t>Manager</a:t>
            </a:r>
            <a:r>
              <a:rPr lang="en-US" sz="3800" dirty="0"/>
              <a:t> – Allocates memory, cleans it up when not needed (Garbage Collector)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b="1" u="sng" dirty="0"/>
              <a:t>Bodyguard</a:t>
            </a:r>
            <a:r>
              <a:rPr lang="en-US" sz="3800" u="sng" dirty="0"/>
              <a:t> </a:t>
            </a:r>
            <a:r>
              <a:rPr lang="en-US" sz="3800" dirty="0"/>
              <a:t>– Checks your code for security issues before running it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b="1" u="sng" dirty="0"/>
              <a:t>Doctor</a:t>
            </a:r>
            <a:r>
              <a:rPr lang="en-US" sz="3800" u="sng" dirty="0"/>
              <a:t> </a:t>
            </a:r>
            <a:r>
              <a:rPr lang="en-US" sz="3800" dirty="0"/>
              <a:t>– Fixes problems on the fly by handling exceptions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800" dirty="0"/>
          </a:p>
          <a:p>
            <a:pPr>
              <a:lnSpc>
                <a:spcPct val="150000"/>
              </a:lnSpc>
            </a:pPr>
            <a:r>
              <a:rPr lang="en-IN" sz="3800" i="1" dirty="0"/>
              <a:t>(</a:t>
            </a:r>
            <a:r>
              <a:rPr lang="en-IN" sz="3500" i="1" dirty="0"/>
              <a:t>Note: </a:t>
            </a:r>
            <a:r>
              <a:rPr lang="en-US" sz="3500" i="1" dirty="0"/>
              <a:t>IL (Intermediate Language) - A platform-independent, low-level code generated from C# before being converted to machine code by the JIT compiler.</a:t>
            </a:r>
            <a:endParaRPr lang="en-IN" sz="3500" i="1" dirty="0"/>
          </a:p>
        </p:txBody>
      </p:sp>
    </p:spTree>
    <p:extLst>
      <p:ext uri="{BB962C8B-B14F-4D97-AF65-F5344CB8AC3E}">
        <p14:creationId xmlns:p14="http://schemas.microsoft.com/office/powerpoint/2010/main" val="29584472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05EE0-B597-D7AA-D2D2-FFFEA6514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023B9A-7307-FC81-BF73-5E6434E5BE85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9045DD6-16DC-5471-60D3-8E730513DB7B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5C912A7-318F-6809-DB12-2F4604EAAF3D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FDC2D4A-E603-C77E-B856-39F0CA544D7F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0F32172-E051-C970-E908-A6E77705C31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6601B0D-227C-B296-AF8C-CC5863E5F236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4CBED3-8FE4-BED9-486D-8C92639175FA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F249E3E-D30D-071E-F431-90F7C0784A7A}"/>
              </a:ext>
            </a:extLst>
          </p:cNvPr>
          <p:cNvSpPr txBox="1"/>
          <p:nvPr/>
        </p:nvSpPr>
        <p:spPr>
          <a:xfrm>
            <a:off x="1804385" y="255504"/>
            <a:ext cx="1571173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CLR-The Heart of 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26B3DC0-DE5D-E8CC-9B18-B57A0469F036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8055AEC-6A46-A26D-A785-6C27414F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14</a:t>
            </a:fld>
            <a:endParaRPr lang="en-GB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EED21-81B8-E945-CED9-1C4C98D27A05}"/>
              </a:ext>
            </a:extLst>
          </p:cNvPr>
          <p:cNvSpPr txBox="1"/>
          <p:nvPr/>
        </p:nvSpPr>
        <p:spPr>
          <a:xfrm>
            <a:off x="2561199" y="1563467"/>
            <a:ext cx="14744734" cy="8306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AB895AB-9FF7-23D4-EF32-A79E7955807F}"/>
              </a:ext>
            </a:extLst>
          </p:cNvPr>
          <p:cNvSpPr/>
          <p:nvPr/>
        </p:nvSpPr>
        <p:spPr>
          <a:xfrm>
            <a:off x="7037500" y="3803890"/>
            <a:ext cx="4451684" cy="382604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81D0B4-7510-24C8-265E-EB90DF19ADAC}"/>
              </a:ext>
            </a:extLst>
          </p:cNvPr>
          <p:cNvSpPr/>
          <p:nvPr/>
        </p:nvSpPr>
        <p:spPr>
          <a:xfrm>
            <a:off x="2529976" y="1764334"/>
            <a:ext cx="3852573" cy="34150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6877D9B-F5CB-9F68-5129-CDB0820CD7E0}"/>
              </a:ext>
            </a:extLst>
          </p:cNvPr>
          <p:cNvSpPr/>
          <p:nvPr/>
        </p:nvSpPr>
        <p:spPr>
          <a:xfrm>
            <a:off x="2262351" y="6263059"/>
            <a:ext cx="3852573" cy="34150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9413D9-03B6-75B1-D1DB-CBE8813B30DC}"/>
              </a:ext>
            </a:extLst>
          </p:cNvPr>
          <p:cNvSpPr/>
          <p:nvPr/>
        </p:nvSpPr>
        <p:spPr>
          <a:xfrm>
            <a:off x="12411760" y="6333425"/>
            <a:ext cx="3852573" cy="34150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3E6220D-FAC4-C1A9-B21D-49599482EB82}"/>
              </a:ext>
            </a:extLst>
          </p:cNvPr>
          <p:cNvSpPr/>
          <p:nvPr/>
        </p:nvSpPr>
        <p:spPr>
          <a:xfrm>
            <a:off x="12239152" y="1848346"/>
            <a:ext cx="3852573" cy="34150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9B8449-A935-D8EF-E9E6-F5EFD4CF4EE1}"/>
              </a:ext>
            </a:extLst>
          </p:cNvPr>
          <p:cNvCxnSpPr>
            <a:cxnSpLocks/>
          </p:cNvCxnSpPr>
          <p:nvPr/>
        </p:nvCxnSpPr>
        <p:spPr>
          <a:xfrm>
            <a:off x="6257988" y="4159976"/>
            <a:ext cx="1047137" cy="64736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A906BE-683F-7740-3984-7A5C995314D8}"/>
              </a:ext>
            </a:extLst>
          </p:cNvPr>
          <p:cNvCxnSpPr>
            <a:cxnSpLocks/>
          </p:cNvCxnSpPr>
          <p:nvPr/>
        </p:nvCxnSpPr>
        <p:spPr>
          <a:xfrm>
            <a:off x="11221293" y="6638921"/>
            <a:ext cx="1345637" cy="80251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FABF3C1-711F-B852-6668-A2FA5B20F785}"/>
              </a:ext>
            </a:extLst>
          </p:cNvPr>
          <p:cNvCxnSpPr>
            <a:cxnSpLocks/>
          </p:cNvCxnSpPr>
          <p:nvPr/>
        </p:nvCxnSpPr>
        <p:spPr>
          <a:xfrm flipV="1">
            <a:off x="11294463" y="4317003"/>
            <a:ext cx="1117297" cy="60669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54DC170-2C61-72DE-63DD-39919B6F5BAD}"/>
              </a:ext>
            </a:extLst>
          </p:cNvPr>
          <p:cNvCxnSpPr>
            <a:cxnSpLocks/>
          </p:cNvCxnSpPr>
          <p:nvPr/>
        </p:nvCxnSpPr>
        <p:spPr>
          <a:xfrm flipH="1">
            <a:off x="6043760" y="6765305"/>
            <a:ext cx="1406972" cy="7412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1D39150-3542-2A5B-6CF9-B9596F9072E4}"/>
              </a:ext>
            </a:extLst>
          </p:cNvPr>
          <p:cNvSpPr txBox="1"/>
          <p:nvPr/>
        </p:nvSpPr>
        <p:spPr>
          <a:xfrm>
            <a:off x="2735489" y="3096004"/>
            <a:ext cx="3441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JIT Compilation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17A035-7057-288D-FE0F-4CC35CF144E9}"/>
              </a:ext>
            </a:extLst>
          </p:cNvPr>
          <p:cNvSpPr txBox="1"/>
          <p:nvPr/>
        </p:nvSpPr>
        <p:spPr>
          <a:xfrm>
            <a:off x="12981312" y="7439762"/>
            <a:ext cx="2762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Exception Handling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4871CA-79BE-5686-AFFF-FECB1C87E57E}"/>
              </a:ext>
            </a:extLst>
          </p:cNvPr>
          <p:cNvSpPr txBox="1"/>
          <p:nvPr/>
        </p:nvSpPr>
        <p:spPr>
          <a:xfrm>
            <a:off x="13193077" y="3087071"/>
            <a:ext cx="2337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Security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D03CC4-6AF9-5045-A9C9-3710D4C25DEA}"/>
              </a:ext>
            </a:extLst>
          </p:cNvPr>
          <p:cNvSpPr txBox="1"/>
          <p:nvPr/>
        </p:nvSpPr>
        <p:spPr>
          <a:xfrm>
            <a:off x="2765338" y="7246362"/>
            <a:ext cx="30712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4687C7-9956-2CA6-5359-1F8213E42AE4}"/>
              </a:ext>
            </a:extLst>
          </p:cNvPr>
          <p:cNvSpPr txBox="1"/>
          <p:nvPr/>
        </p:nvSpPr>
        <p:spPr>
          <a:xfrm>
            <a:off x="8134195" y="4923693"/>
            <a:ext cx="23371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b="1" dirty="0"/>
              <a:t>CLR</a:t>
            </a:r>
          </a:p>
        </p:txBody>
      </p:sp>
    </p:spTree>
    <p:extLst>
      <p:ext uri="{BB962C8B-B14F-4D97-AF65-F5344CB8AC3E}">
        <p14:creationId xmlns:p14="http://schemas.microsoft.com/office/powerpoint/2010/main" val="277822455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8E5CF-20D2-5C41-0C6B-73678C5F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2014AE-75BC-C287-1A2A-224EDF511991}"/>
              </a:ext>
            </a:extLst>
          </p:cNvPr>
          <p:cNvSpPr/>
          <p:nvPr/>
        </p:nvSpPr>
        <p:spPr>
          <a:xfrm>
            <a:off x="-201016" y="-153446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03FB7E8-2EED-F619-8AB2-8546D67AD92B}"/>
              </a:ext>
            </a:extLst>
          </p:cNvPr>
          <p:cNvGrpSpPr/>
          <p:nvPr/>
        </p:nvGrpSpPr>
        <p:grpSpPr>
          <a:xfrm>
            <a:off x="1028700" y="2571932"/>
            <a:ext cx="16465216" cy="6451751"/>
            <a:chOff x="0" y="-5751"/>
            <a:chExt cx="13673324" cy="283303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DCB0017-CA63-D338-15BA-D243457D0DCB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3398288-6CC4-9F54-23FF-F23940904235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9069023-0D26-3C76-B654-45D94C2FD71F}"/>
                </a:ext>
              </a:extLst>
            </p:cNvPr>
            <p:cNvSpPr txBox="1"/>
            <p:nvPr/>
          </p:nvSpPr>
          <p:spPr>
            <a:xfrm>
              <a:off x="0" y="688706"/>
              <a:ext cx="13250213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263F59B-1E48-279D-06E9-2ADD706B2A97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E997B4A0-A125-FF66-CCA6-ADC22B70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15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C84F278-B3D6-4E28-E132-EA063B8A7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0989" y="1010654"/>
            <a:ext cx="13848207" cy="871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0246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1E9F-B1E8-EC4A-4F50-17180CD37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FA8985-7D8E-D73C-1EB1-CFE13AB51EDE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8918FE0-4907-0E81-B660-773487E90092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3411778-C3EA-A000-CB19-098F3E57A3D0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0897F6C-8C82-F36D-BC8D-C704CF3232F9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69B76C2-F1A4-BC09-F74A-A2BEC9402B6F}"/>
                </a:ext>
              </a:extLst>
            </p:cNvPr>
            <p:cNvSpPr txBox="1"/>
            <p:nvPr/>
          </p:nvSpPr>
          <p:spPr>
            <a:xfrm>
              <a:off x="0" y="-9525"/>
              <a:ext cx="15443231" cy="149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AC3FA87-6D5B-0E6C-C8DB-0202AD15D8B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BA55D7-2446-F5A9-7FA9-01585DFF0C7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5230C00-C30A-817B-16CF-EF29DC21AC5E}"/>
              </a:ext>
            </a:extLst>
          </p:cNvPr>
          <p:cNvSpPr txBox="1"/>
          <p:nvPr/>
        </p:nvSpPr>
        <p:spPr>
          <a:xfrm>
            <a:off x="1804385" y="255504"/>
            <a:ext cx="1571173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BCL-Base Class Library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CFB0D51-DB97-5EBB-0DC6-C7C37C10DDF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020C60D-5063-DCF7-D90E-1F6CE28D9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16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BBDF5F-09D9-8AF3-0876-2EC4206511D3}"/>
              </a:ext>
            </a:extLst>
          </p:cNvPr>
          <p:cNvSpPr txBox="1"/>
          <p:nvPr/>
        </p:nvSpPr>
        <p:spPr>
          <a:xfrm>
            <a:off x="1551820" y="1949116"/>
            <a:ext cx="16518997" cy="8330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u="sng" dirty="0"/>
              <a:t>Base Class Library (BCL):</a:t>
            </a:r>
            <a:br>
              <a:rPr lang="en-US" sz="3000" dirty="0"/>
            </a:br>
            <a:r>
              <a:rPr lang="en-US" sz="3000" dirty="0"/>
              <a:t>A comprehensive set of reusable classes, interfaces, and value types that are tightly integrated with the Common Language Runtime (CLR).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It includes libraries for: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File and directory manipulation (System.IO)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Networking (System. Net)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Collections (System.Collections)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Text processing (System.Text)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Security (System.Security)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Data access (System.Data)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XML processing (System.Xml)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And many other common programming tasks.</a:t>
            </a:r>
          </a:p>
        </p:txBody>
      </p:sp>
    </p:spTree>
    <p:extLst>
      <p:ext uri="{BB962C8B-B14F-4D97-AF65-F5344CB8AC3E}">
        <p14:creationId xmlns:p14="http://schemas.microsoft.com/office/powerpoint/2010/main" val="1959710439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282B3-9375-1521-A4BE-527515AD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675D39-F29A-34D4-FE09-F32FEC2C5C61}"/>
              </a:ext>
            </a:extLst>
          </p:cNvPr>
          <p:cNvSpPr/>
          <p:nvPr/>
        </p:nvSpPr>
        <p:spPr>
          <a:xfrm>
            <a:off x="-1391816" y="15229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BFD15B8-D398-372D-F776-1FF90B2A6CEF}"/>
              </a:ext>
            </a:extLst>
          </p:cNvPr>
          <p:cNvSpPr/>
          <p:nvPr/>
        </p:nvSpPr>
        <p:spPr>
          <a:xfrm>
            <a:off x="-1676358" y="291633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FCC7358-08A5-5ADE-E6D1-DD88EA4649CD}"/>
              </a:ext>
            </a:extLst>
          </p:cNvPr>
          <p:cNvGrpSpPr/>
          <p:nvPr/>
        </p:nvGrpSpPr>
        <p:grpSpPr>
          <a:xfrm>
            <a:off x="1551820" y="1569107"/>
            <a:ext cx="15964657" cy="8445389"/>
            <a:chOff x="-1357304" y="-2720660"/>
            <a:chExt cx="19204571" cy="975456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A74ED34-DEDE-A4F8-C637-D1584078E99F}"/>
                </a:ext>
              </a:extLst>
            </p:cNvPr>
            <p:cNvSpPr txBox="1"/>
            <p:nvPr/>
          </p:nvSpPr>
          <p:spPr>
            <a:xfrm>
              <a:off x="-1357304" y="-2720660"/>
              <a:ext cx="19204571" cy="97545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                           A set of tools and libraries tailored for building specific types of .NET applications (like web, desktop, or mobile).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                                                                      Converts C# Intermediate Language (IL) code into native machine code at runtime for efficient execution.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                                                             Automatically frees memory by removing objects no longer in use.</a:t>
              </a:r>
              <a:endParaRPr lang="en-GB" sz="4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40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011521A-C9E7-5B83-1DFE-B9C86ABD3E33}"/>
                </a:ext>
              </a:extLst>
            </p:cNvPr>
            <p:cNvSpPr txBox="1"/>
            <p:nvPr/>
          </p:nvSpPr>
          <p:spPr>
            <a:xfrm>
              <a:off x="1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6043B56-E2BB-64B6-31E3-7E105B88AFA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FCCB468-F083-BC74-8A48-317EEB99A56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2653F54-C60F-655F-5FD7-726F8D59EFB1}"/>
              </a:ext>
            </a:extLst>
          </p:cNvPr>
          <p:cNvSpPr txBox="1"/>
          <p:nvPr/>
        </p:nvSpPr>
        <p:spPr>
          <a:xfrm>
            <a:off x="4183742" y="327178"/>
            <a:ext cx="1063422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Components Of 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ED7566B-A48B-C784-296F-A8C9497A11D2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EE8A7DC-291E-072C-13FD-66A26066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17</a:t>
            </a:fld>
            <a:endParaRPr lang="en-GB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F54085-2A12-C4F5-F1B2-F72DA99F6CF9}"/>
              </a:ext>
            </a:extLst>
          </p:cNvPr>
          <p:cNvSpPr/>
          <p:nvPr/>
        </p:nvSpPr>
        <p:spPr>
          <a:xfrm>
            <a:off x="1816874" y="1851040"/>
            <a:ext cx="33395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</a:rPr>
              <a:t>Workload: </a:t>
            </a:r>
            <a:endParaRPr lang="en-IN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AA85F1-CF30-F139-90A8-1C8E311DDFDC}"/>
              </a:ext>
            </a:extLst>
          </p:cNvPr>
          <p:cNvSpPr/>
          <p:nvPr/>
        </p:nvSpPr>
        <p:spPr>
          <a:xfrm>
            <a:off x="1816874" y="4344076"/>
            <a:ext cx="8156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JIT (Just-In-Time) Compiler: </a:t>
            </a:r>
            <a:endParaRPr lang="en-IN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E411F-06FE-D9A1-1634-43DFE4E3EB6A}"/>
              </a:ext>
            </a:extLst>
          </p:cNvPr>
          <p:cNvSpPr/>
          <p:nvPr/>
        </p:nvSpPr>
        <p:spPr>
          <a:xfrm>
            <a:off x="1923846" y="6717621"/>
            <a:ext cx="70682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Garbage Collector (GC): </a:t>
            </a:r>
            <a:endParaRPr lang="en-IN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6701809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2562452" y="2568512"/>
            <a:ext cx="14656952" cy="2598220"/>
            <a:chOff x="-483648" y="-2758013"/>
            <a:chExt cx="19542604" cy="346429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dirty="0">
                <a:solidFill>
                  <a:srgbClr val="FFFFFF"/>
                </a:solidFill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2262351" y="527265"/>
            <a:ext cx="1576323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9000" dirty="0"/>
              <a:t>Data Types, Variables, Operators </a:t>
            </a:r>
            <a:endParaRPr lang="en-US" sz="9000" dirty="0">
              <a:latin typeface="Agrandir"/>
              <a:ea typeface="Agrandir"/>
              <a:cs typeface="Agrandir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18</a:t>
            </a:fld>
            <a:endParaRPr lang="en-GB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C89AB-851E-0ECC-EC9A-D611CDA37C47}"/>
              </a:ext>
            </a:extLst>
          </p:cNvPr>
          <p:cNvSpPr txBox="1"/>
          <p:nvPr/>
        </p:nvSpPr>
        <p:spPr>
          <a:xfrm>
            <a:off x="1875692" y="1993379"/>
            <a:ext cx="15343712" cy="8141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sz="3200" b="1" dirty="0"/>
              <a:t>Data Types</a:t>
            </a:r>
            <a:r>
              <a:rPr lang="en-GB" sz="3200" i="1" dirty="0">
                <a:ea typeface="+mn-lt"/>
                <a:cs typeface="+mn-lt"/>
              </a:rPr>
              <a:t>.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u="sng" dirty="0">
                <a:ea typeface="+mn-lt"/>
                <a:cs typeface="+mn-lt"/>
              </a:rPr>
              <a:t>Value Types</a:t>
            </a:r>
            <a:r>
              <a:rPr lang="en-GB" sz="3200" dirty="0">
                <a:ea typeface="+mn-lt"/>
                <a:cs typeface="+mn-lt"/>
              </a:rPr>
              <a:t>(e.g. :int,double,bool) –store data directly.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u="sng" dirty="0"/>
              <a:t>Reference types</a:t>
            </a:r>
            <a:r>
              <a:rPr lang="en-IN" sz="3200" dirty="0"/>
              <a:t>(e.g. :sting,arrays,classes )-store memory addresses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u="sng" dirty="0"/>
              <a:t>Nullable types</a:t>
            </a:r>
            <a:r>
              <a:rPr lang="en-IN" sz="3200" dirty="0"/>
              <a:t>(e.g.: int?) –enable nullability for value types</a:t>
            </a:r>
          </a:p>
          <a:p>
            <a:pPr lvl="2" algn="just">
              <a:lnSpc>
                <a:spcPct val="150000"/>
              </a:lnSpc>
            </a:pPr>
            <a:endParaRPr lang="en-GB" sz="3200" i="1" dirty="0">
              <a:ea typeface="+mn-lt"/>
              <a:cs typeface="+mn-lt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sz="3200" b="1" dirty="0"/>
              <a:t>Variables &amp; Constants 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/>
              <a:t>Variables</a:t>
            </a:r>
            <a:r>
              <a:rPr lang="en-IN" sz="3200" dirty="0"/>
              <a:t>: store runtime data</a:t>
            </a:r>
          </a:p>
          <a:p>
            <a:pPr marL="2286000" lvl="4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u="sng" dirty="0"/>
              <a:t>Explicit </a:t>
            </a:r>
            <a:r>
              <a:rPr lang="en-IN" sz="3200" dirty="0"/>
              <a:t>: int x =5;</a:t>
            </a:r>
          </a:p>
          <a:p>
            <a:pPr marL="2286000" lvl="4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u="sng" dirty="0">
                <a:ea typeface="+mn-lt"/>
                <a:cs typeface="+mn-lt"/>
              </a:rPr>
              <a:t>Implicit</a:t>
            </a:r>
            <a:r>
              <a:rPr lang="en-IN" sz="3200" dirty="0">
                <a:ea typeface="+mn-lt"/>
                <a:cs typeface="+mn-lt"/>
              </a:rPr>
              <a:t> : var name =“John” ;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/>
              <a:t>Constants :  </a:t>
            </a:r>
            <a:r>
              <a:rPr lang="en-IN" sz="3200" dirty="0"/>
              <a:t>fixed values via const (e.g. :const double Pi =3.14;) –boost readability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 dirty="0">
              <a:ea typeface="+mn-lt"/>
              <a:cs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B4642B-AFBE-1FFD-BA44-4E8D31725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0923" y="5893902"/>
            <a:ext cx="5413294" cy="27258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2C36-ADED-E409-80AC-8BD13387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969755-A413-A22C-5E78-E6629844A916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7115336-3EBE-24A4-4F09-581E015D4CB9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620492E-29E0-EF49-2B1F-58BADECD61E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61544C1-965F-381E-81BE-D4779F88879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27F8FD0-4988-3786-8C82-66E27A99EF8C}"/>
              </a:ext>
            </a:extLst>
          </p:cNvPr>
          <p:cNvSpPr txBox="1"/>
          <p:nvPr/>
        </p:nvSpPr>
        <p:spPr>
          <a:xfrm>
            <a:off x="1658249" y="152290"/>
            <a:ext cx="14996949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Numerical Data Types</a:t>
            </a:r>
            <a:endParaRPr lang="en-US" sz="9000" dirty="0">
              <a:latin typeface="Agrandir"/>
              <a:ea typeface="Agrandir"/>
              <a:cs typeface="Agrandir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9C06799-2DA8-7BD6-12A7-10296C03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19</a:t>
            </a:fld>
            <a:endParaRPr lang="en-GB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5FA4B-DD53-614E-DB44-AC776DA1E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383" y="1792800"/>
            <a:ext cx="15383234" cy="84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1261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C49D-CD74-BAA0-6F35-46E904DE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A3E3E0-E5E2-C43F-4D95-6B9B7D56D4FF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F129BF9-3D0E-1703-7D97-4E72CC7965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FC71DD0-BFAE-27C9-D0B7-B3828A0689F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A513307-1C97-672B-CD8C-6C07B4F3F29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6197B63-2CDB-E78A-ED57-FFD41CE51C26}"/>
              </a:ext>
            </a:extLst>
          </p:cNvPr>
          <p:cNvSpPr txBox="1"/>
          <p:nvPr/>
        </p:nvSpPr>
        <p:spPr>
          <a:xfrm>
            <a:off x="2262351" y="527265"/>
            <a:ext cx="14996949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Types of Operators </a:t>
            </a:r>
            <a:endParaRPr lang="en-US" sz="9000" dirty="0">
              <a:latin typeface="Agrandir"/>
              <a:ea typeface="Agrandir"/>
              <a:cs typeface="Agrandir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A98CD16-C7F0-2262-8000-3F14C6DE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20</a:t>
            </a:fld>
            <a:endParaRPr lang="en-GB" sz="200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2D5AAEF-8C85-2C1A-6546-7E4B7F854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431" y="2274277"/>
            <a:ext cx="13082954" cy="7221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715986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626A-12BA-747A-C8DB-3AF04B6E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3BC89B-198E-95E7-CAB8-49D9950B4399}"/>
              </a:ext>
            </a:extLst>
          </p:cNvPr>
          <p:cNvSpPr/>
          <p:nvPr/>
        </p:nvSpPr>
        <p:spPr>
          <a:xfrm>
            <a:off x="-832918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856D57A-79A1-557B-10E9-6C76D7352A37}"/>
              </a:ext>
            </a:extLst>
          </p:cNvPr>
          <p:cNvSpPr/>
          <p:nvPr/>
        </p:nvSpPr>
        <p:spPr>
          <a:xfrm>
            <a:off x="-833271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BC1F9EA-ABAE-A6CC-DD7F-74AFBC992DF6}"/>
              </a:ext>
            </a:extLst>
          </p:cNvPr>
          <p:cNvGrpSpPr/>
          <p:nvPr/>
        </p:nvGrpSpPr>
        <p:grpSpPr>
          <a:xfrm>
            <a:off x="2357550" y="2051742"/>
            <a:ext cx="14491159" cy="7545912"/>
            <a:chOff x="-2781138" y="-2693188"/>
            <a:chExt cx="21833974" cy="1001028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11B476D-250C-9356-4E61-619F8DF47597}"/>
                </a:ext>
              </a:extLst>
            </p:cNvPr>
            <p:cNvSpPr txBox="1"/>
            <p:nvPr/>
          </p:nvSpPr>
          <p:spPr>
            <a:xfrm>
              <a:off x="-2781138" y="-2693188"/>
              <a:ext cx="21833974" cy="100102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r>
                <a:rPr lang="en-US" sz="3000" dirty="0"/>
                <a:t>Control flow determines the order in which individual statements, instructions, or function calls are executed or evaluated in a program.</a:t>
              </a:r>
              <a:endParaRPr lang="en-GB" sz="30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r>
                <a:rPr lang="en-US" sz="3000" dirty="0"/>
                <a:t>.NET provides conditional statements and loops to control this flow, enabling programs to make decisions and perform repetitive tasks efficiently. </a:t>
              </a: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r>
                <a:rPr lang="en-US" sz="3000" dirty="0"/>
                <a:t>The main conditional statements are: </a:t>
              </a:r>
            </a:p>
            <a:p>
              <a:pPr marL="1371600" lvl="2" indent="-4572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/>
                <a:t>if statement </a:t>
              </a:r>
            </a:p>
            <a:p>
              <a:pPr marL="1371600" lvl="2" indent="-4572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/>
                <a:t>if-else statement </a:t>
              </a:r>
            </a:p>
            <a:p>
              <a:pPr marL="1371600" lvl="2" indent="-4572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/>
                <a:t>if-else if statement </a:t>
              </a:r>
              <a:r>
                <a:rPr lang="en-US" sz="3000" dirty="0"/>
                <a:t>(also called if-</a:t>
              </a:r>
              <a:r>
                <a:rPr lang="en-US" sz="3000" dirty="0" err="1"/>
                <a:t>elif</a:t>
              </a:r>
              <a:r>
                <a:rPr lang="en-US" sz="3000" dirty="0"/>
                <a:t>-else in some languages) </a:t>
              </a:r>
            </a:p>
            <a:p>
              <a:pPr marL="1371600" lvl="2" indent="-4572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/>
                <a:t>switch statements </a:t>
              </a: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A389BB0-32A8-3A60-5E5E-8A96912EF262}"/>
                </a:ext>
              </a:extLst>
            </p:cNvPr>
            <p:cNvSpPr txBox="1"/>
            <p:nvPr/>
          </p:nvSpPr>
          <p:spPr>
            <a:xfrm>
              <a:off x="0" y="-9525"/>
              <a:ext cx="15443230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B83700D-0BD2-3090-4526-1A3E4EAC98A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6C91306-3429-7E07-EBEF-1F988C9EFA3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2B9693A-628F-8041-7BC9-5F1E902449D1}"/>
              </a:ext>
            </a:extLst>
          </p:cNvPr>
          <p:cNvSpPr txBox="1"/>
          <p:nvPr/>
        </p:nvSpPr>
        <p:spPr>
          <a:xfrm>
            <a:off x="2852220" y="327178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Conditions</a:t>
            </a:r>
            <a:endParaRPr lang="en-GB" sz="9000" dirty="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0FBD77A-4FC9-AF33-24F3-5E5B90BD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21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379508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233B9-CF80-A5EA-7E1A-D7A09F04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F6EBBF-EF04-066B-EF4E-2EF66EBCC0F5}"/>
              </a:ext>
            </a:extLst>
          </p:cNvPr>
          <p:cNvSpPr/>
          <p:nvPr/>
        </p:nvSpPr>
        <p:spPr>
          <a:xfrm>
            <a:off x="-832918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FD18929-B142-CE42-57E4-0ECF9C4D9671}"/>
              </a:ext>
            </a:extLst>
          </p:cNvPr>
          <p:cNvSpPr/>
          <p:nvPr/>
        </p:nvSpPr>
        <p:spPr>
          <a:xfrm>
            <a:off x="-833271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E7A8B07-8B78-CF15-E4C8-1A4286D8D1D0}"/>
              </a:ext>
            </a:extLst>
          </p:cNvPr>
          <p:cNvGrpSpPr/>
          <p:nvPr/>
        </p:nvGrpSpPr>
        <p:grpSpPr>
          <a:xfrm>
            <a:off x="1675044" y="1507310"/>
            <a:ext cx="15497475" cy="7402228"/>
            <a:chOff x="-2712268" y="-3291065"/>
            <a:chExt cx="21833974" cy="399734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DA4E5FB-212C-DC30-4289-B6AC57288D56}"/>
                </a:ext>
              </a:extLst>
            </p:cNvPr>
            <p:cNvSpPr txBox="1"/>
            <p:nvPr/>
          </p:nvSpPr>
          <p:spPr>
            <a:xfrm>
              <a:off x="-2712268" y="-3291065"/>
              <a:ext cx="21833974" cy="11081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3200" dirty="0"/>
                <a:t>🔄 Looping Constructs in .NET :</a:t>
              </a:r>
            </a:p>
            <a:p>
              <a:pPr algn="just">
                <a:lnSpc>
                  <a:spcPct val="150000"/>
                </a:lnSpc>
              </a:pPr>
              <a:endParaRPr lang="en-GB" sz="3000" dirty="0">
                <a:solidFill>
                  <a:schemeClr val="bg1"/>
                </a:solidFill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 dirty="0">
                <a:solidFill>
                  <a:schemeClr val="bg1"/>
                </a:solidFill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0B1EB10-6AF1-3C08-6F61-B423BD4F7D83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71D362D-BA3A-7CE9-1DBA-EFC68AF5A4C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50D9BCB-D965-1D48-B9A3-DDEAA4C2976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BF001E4-F660-2654-DFF8-F662800C3053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Loops </a:t>
            </a:r>
            <a:endParaRPr lang="en-GB" sz="9000" dirty="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DACF0DD-D074-133F-B9AA-0F08D454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22</a:t>
            </a:fld>
            <a:endParaRPr lang="en-GB" sz="2000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B3EAB23A-DF35-1024-8C25-93F119710F77}"/>
              </a:ext>
            </a:extLst>
          </p:cNvPr>
          <p:cNvSpPr/>
          <p:nvPr/>
        </p:nvSpPr>
        <p:spPr>
          <a:xfrm rot="16200000">
            <a:off x="1554960" y="3020792"/>
            <a:ext cx="3915507" cy="3100260"/>
          </a:xfrm>
          <a:prstGeom prst="homePlate">
            <a:avLst>
              <a:gd name="adj" fmla="val 560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577328AB-D698-44DC-636C-0590A15CEEE0}"/>
              </a:ext>
            </a:extLst>
          </p:cNvPr>
          <p:cNvSpPr/>
          <p:nvPr/>
        </p:nvSpPr>
        <p:spPr>
          <a:xfrm rot="16200000">
            <a:off x="5315106" y="3020791"/>
            <a:ext cx="3915509" cy="3100260"/>
          </a:xfrm>
          <a:prstGeom prst="homePlate">
            <a:avLst>
              <a:gd name="adj" fmla="val 560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A110DF68-A4C2-5F0A-7845-B97E61A1ECA4}"/>
              </a:ext>
            </a:extLst>
          </p:cNvPr>
          <p:cNvSpPr/>
          <p:nvPr/>
        </p:nvSpPr>
        <p:spPr>
          <a:xfrm rot="16200000">
            <a:off x="9193907" y="2902135"/>
            <a:ext cx="3915511" cy="3337570"/>
          </a:xfrm>
          <a:prstGeom prst="homePlate">
            <a:avLst>
              <a:gd name="adj" fmla="val 556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C71DD0D1-9693-1F4C-C9B6-40E37CEA5F49}"/>
              </a:ext>
            </a:extLst>
          </p:cNvPr>
          <p:cNvSpPr/>
          <p:nvPr/>
        </p:nvSpPr>
        <p:spPr>
          <a:xfrm rot="16200000">
            <a:off x="12986414" y="2902130"/>
            <a:ext cx="3915512" cy="3337572"/>
          </a:xfrm>
          <a:prstGeom prst="homePlate">
            <a:avLst>
              <a:gd name="adj" fmla="val 570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C86BB1-6008-D4FB-2ADD-8E4D9C5B08A8}"/>
              </a:ext>
            </a:extLst>
          </p:cNvPr>
          <p:cNvSpPr txBox="1"/>
          <p:nvPr/>
        </p:nvSpPr>
        <p:spPr>
          <a:xfrm>
            <a:off x="2547549" y="3804229"/>
            <a:ext cx="20163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FF00"/>
                </a:solidFill>
              </a:rPr>
              <a:t>While Loop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369049-D9A0-9927-9078-A3A4CEE4D8C0}"/>
              </a:ext>
            </a:extLst>
          </p:cNvPr>
          <p:cNvSpPr txBox="1"/>
          <p:nvPr/>
        </p:nvSpPr>
        <p:spPr>
          <a:xfrm>
            <a:off x="6595800" y="3855769"/>
            <a:ext cx="18522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FF00"/>
                </a:solidFill>
              </a:rPr>
              <a:t>For Loop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149810-F07F-2A85-3D8E-D218F4C87BA1}"/>
              </a:ext>
            </a:extLst>
          </p:cNvPr>
          <p:cNvSpPr txBox="1"/>
          <p:nvPr/>
        </p:nvSpPr>
        <p:spPr>
          <a:xfrm>
            <a:off x="9969583" y="3882377"/>
            <a:ext cx="26249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FF00"/>
                </a:solidFill>
              </a:rPr>
              <a:t>Foreach Loop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A93B1D-3EFF-9069-079D-5C2D1592C535}"/>
              </a:ext>
            </a:extLst>
          </p:cNvPr>
          <p:cNvSpPr txBox="1"/>
          <p:nvPr/>
        </p:nvSpPr>
        <p:spPr>
          <a:xfrm>
            <a:off x="13801703" y="3929086"/>
            <a:ext cx="28112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FF00"/>
                </a:solidFill>
              </a:rPr>
              <a:t>Do-While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8ED10D-5EF1-130E-0219-D7A09651511D}"/>
              </a:ext>
            </a:extLst>
          </p:cNvPr>
          <p:cNvSpPr txBox="1"/>
          <p:nvPr/>
        </p:nvSpPr>
        <p:spPr>
          <a:xfrm>
            <a:off x="2288450" y="4868703"/>
            <a:ext cx="240343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ideal when iteration count is unknown</a:t>
            </a:r>
            <a:endParaRPr lang="en-IN" sz="25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098E9C-71FF-4D5A-96DE-AD4CBC81FBA1}"/>
              </a:ext>
            </a:extLst>
          </p:cNvPr>
          <p:cNvSpPr txBox="1"/>
          <p:nvPr/>
        </p:nvSpPr>
        <p:spPr>
          <a:xfrm>
            <a:off x="6064472" y="4868703"/>
            <a:ext cx="269788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</a:rPr>
              <a:t>best for fixed or index-based loops</a:t>
            </a:r>
            <a:endParaRPr lang="en-IN" sz="25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E9AE34-1B1E-6E75-B2DC-D2FF01885ED9}"/>
              </a:ext>
            </a:extLst>
          </p:cNvPr>
          <p:cNvSpPr txBox="1"/>
          <p:nvPr/>
        </p:nvSpPr>
        <p:spPr>
          <a:xfrm>
            <a:off x="9908946" y="4868703"/>
            <a:ext cx="262497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iteration over collections without index handling</a:t>
            </a:r>
            <a:endParaRPr lang="en-IN" sz="25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312739-E22D-4C41-9F60-F2C3EBE1ED95}"/>
              </a:ext>
            </a:extLst>
          </p:cNvPr>
          <p:cNvSpPr txBox="1"/>
          <p:nvPr/>
        </p:nvSpPr>
        <p:spPr>
          <a:xfrm>
            <a:off x="13631720" y="4868703"/>
            <a:ext cx="28112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useful for prompts or guaranteed single-run operations</a:t>
            </a:r>
            <a:endParaRPr lang="en-IN" sz="250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ADC897D-CFC1-E784-854A-A0D9187FD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044" y="6942203"/>
            <a:ext cx="3436684" cy="254195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FD34112-CFD2-3297-30BC-7B9752E47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1253" y="6955876"/>
            <a:ext cx="3366439" cy="258547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7A7E018-27DC-EDB0-9637-D918E083B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586" y="6914291"/>
            <a:ext cx="4375654" cy="25854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195123F-9A29-803F-4FC4-E2CFD9985D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8947" y="6980727"/>
            <a:ext cx="3366438" cy="251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70538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D7E27-DA1B-A8D0-0D9A-BE146A5DE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E020F2-924F-0A1B-1634-7E0A68A5A25D}"/>
              </a:ext>
            </a:extLst>
          </p:cNvPr>
          <p:cNvSpPr/>
          <p:nvPr/>
        </p:nvSpPr>
        <p:spPr>
          <a:xfrm>
            <a:off x="-1526918" y="-77331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09DE28F-B591-0E65-4C87-2CAB5D2DF31A}"/>
              </a:ext>
            </a:extLst>
          </p:cNvPr>
          <p:cNvSpPr/>
          <p:nvPr/>
        </p:nvSpPr>
        <p:spPr>
          <a:xfrm>
            <a:off x="-1526918" y="198331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DAF8C7B-D1CA-BB9B-DCEB-F2D01A6186D3}"/>
              </a:ext>
            </a:extLst>
          </p:cNvPr>
          <p:cNvGrpSpPr/>
          <p:nvPr/>
        </p:nvGrpSpPr>
        <p:grpSpPr>
          <a:xfrm>
            <a:off x="1195551" y="1299832"/>
            <a:ext cx="16000211" cy="8942064"/>
            <a:chOff x="-3387813" y="-3403107"/>
            <a:chExt cx="22542265" cy="482888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9237E82-2F63-1E70-5FE2-A34AF6FB3E62}"/>
                </a:ext>
              </a:extLst>
            </p:cNvPr>
            <p:cNvSpPr txBox="1"/>
            <p:nvPr/>
          </p:nvSpPr>
          <p:spPr>
            <a:xfrm>
              <a:off x="-3387813" y="-3403107"/>
              <a:ext cx="22542265" cy="48288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 dirty="0"/>
                <a:t>🔄 	</a:t>
              </a:r>
              <a:r>
                <a:rPr lang="en-IN" sz="4000" u="sng" dirty="0"/>
                <a:t>While Loop</a:t>
              </a:r>
              <a:r>
                <a:rPr lang="en-IN" sz="4000" dirty="0"/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Keeps running as long as the condition is true — number of repetitions unknown.</a:t>
              </a:r>
              <a:endParaRPr lang="en-GB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 dirty="0"/>
                <a:t>Real-World Analogy:</a:t>
              </a:r>
              <a:r>
                <a:rPr lang="en-US" sz="3500" dirty="0"/>
                <a:t> Waiting at a bus stop until the bus arrives.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Eg: Suppose you want to keep asking the user to enter a password until they get it right</a:t>
              </a:r>
              <a:r>
                <a:rPr lang="en-US" sz="3600" dirty="0"/>
                <a:t>.</a:t>
              </a:r>
              <a:endParaRPr lang="en-US" sz="3500" dirty="0"/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5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06274B-4BC6-568D-8027-EFE286BC628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0C1BFEA-0F77-8412-C694-4031364FBB3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2C41F97-4278-A1DA-089C-AF7A4374F0C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2F368E2-3685-A17A-9AE2-21DC0BE311C2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While Loop</a:t>
            </a:r>
            <a:endParaRPr lang="en-GB" sz="9000" dirty="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5F056BD-F032-07C3-7D44-D01AB40B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23</a:t>
            </a:fld>
            <a:endParaRPr lang="en-GB" sz="20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1EE6E1-992B-1762-FF08-A939EF5E5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350" y="5335427"/>
            <a:ext cx="13888885" cy="475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86199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92228-4258-DB7D-1634-3D6F5826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4CBECA-3433-BB9B-C769-D05FE2A784B7}"/>
              </a:ext>
            </a:extLst>
          </p:cNvPr>
          <p:cNvSpPr/>
          <p:nvPr/>
        </p:nvSpPr>
        <p:spPr>
          <a:xfrm>
            <a:off x="-1526918" y="-77331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C2BC438-A049-E9A8-5208-57F1A5C1D8DD}"/>
              </a:ext>
            </a:extLst>
          </p:cNvPr>
          <p:cNvSpPr/>
          <p:nvPr/>
        </p:nvSpPr>
        <p:spPr>
          <a:xfrm>
            <a:off x="-1526918" y="198331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028D408-E052-2F7B-295D-F8AD3547043A}"/>
              </a:ext>
            </a:extLst>
          </p:cNvPr>
          <p:cNvGrpSpPr/>
          <p:nvPr/>
        </p:nvGrpSpPr>
        <p:grpSpPr>
          <a:xfrm>
            <a:off x="1675044" y="1507310"/>
            <a:ext cx="15497475" cy="8134150"/>
            <a:chOff x="-2712268" y="-3291065"/>
            <a:chExt cx="21833974" cy="439259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8C09769-9228-EB1A-A964-2EFDDE87C62A}"/>
                </a:ext>
              </a:extLst>
            </p:cNvPr>
            <p:cNvSpPr txBox="1"/>
            <p:nvPr/>
          </p:nvSpPr>
          <p:spPr>
            <a:xfrm>
              <a:off x="-2712268" y="-3291065"/>
              <a:ext cx="21833974" cy="43925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 dirty="0"/>
                <a:t>🔄 	</a:t>
              </a:r>
              <a:r>
                <a:rPr lang="en-IN" sz="4000" u="sng" dirty="0"/>
                <a:t>Do-While Loop</a:t>
              </a:r>
              <a:r>
                <a:rPr lang="en-IN" sz="4000" dirty="0"/>
                <a:t>: Do First, Check Later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Always runs at least once, even if the condition is false.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 dirty="0"/>
                <a:t>Real-World Analogy:</a:t>
              </a:r>
              <a:r>
                <a:rPr lang="en-US" sz="3500" dirty="0"/>
                <a:t> </a:t>
              </a:r>
              <a:r>
                <a:rPr lang="en-US" sz="3600" dirty="0"/>
                <a:t>Trying a dish once before deciding if you like it</a:t>
              </a:r>
              <a:r>
                <a:rPr lang="en-US" sz="3500" dirty="0"/>
                <a:t>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Eg : Ask the user to enter a number and keep asking until they enter a positive number:</a:t>
              </a: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5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6B69A78-BEB6-768D-ED7E-2A2E82E0607B}"/>
                </a:ext>
              </a:extLst>
            </p:cNvPr>
            <p:cNvSpPr txBox="1"/>
            <p:nvPr/>
          </p:nvSpPr>
          <p:spPr>
            <a:xfrm>
              <a:off x="0" y="-9525"/>
              <a:ext cx="15443230" cy="251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EC3C056-0AF7-A65E-A506-38E7522A280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90DB16-C357-FB5C-CF47-D5CFE64CF14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4CA6484-D946-12B7-AC3A-5991A3F07F08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Do-While loop </a:t>
            </a:r>
            <a:endParaRPr lang="en-GB" sz="9000" dirty="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4DFB068-2D2B-C95E-2CF0-CDDCF8DA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24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2C12BAB-9B2B-47B4-4A2D-F1EC32F90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678" y="5627077"/>
            <a:ext cx="11136922" cy="446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41003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1F68A-2004-5EA8-0181-B968B39C4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A1C80E-4D6D-28A2-E7DC-A834FD736517}"/>
              </a:ext>
            </a:extLst>
          </p:cNvPr>
          <p:cNvSpPr/>
          <p:nvPr/>
        </p:nvSpPr>
        <p:spPr>
          <a:xfrm>
            <a:off x="-1526918" y="-77331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87FCED6-4E5A-002A-9AD1-42730F21A2D5}"/>
              </a:ext>
            </a:extLst>
          </p:cNvPr>
          <p:cNvSpPr/>
          <p:nvPr/>
        </p:nvSpPr>
        <p:spPr>
          <a:xfrm>
            <a:off x="-1526918" y="198331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AADE771-6AA5-CB2E-7B03-0DC54722330E}"/>
              </a:ext>
            </a:extLst>
          </p:cNvPr>
          <p:cNvGrpSpPr/>
          <p:nvPr/>
        </p:nvGrpSpPr>
        <p:grpSpPr>
          <a:xfrm>
            <a:off x="1675044" y="1507310"/>
            <a:ext cx="15497475" cy="8134150"/>
            <a:chOff x="-2712268" y="-3291065"/>
            <a:chExt cx="21833974" cy="439259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3C9D861-E289-0CF9-026E-D4474C1F1639}"/>
                </a:ext>
              </a:extLst>
            </p:cNvPr>
            <p:cNvSpPr txBox="1"/>
            <p:nvPr/>
          </p:nvSpPr>
          <p:spPr>
            <a:xfrm>
              <a:off x="-2712268" y="-3291065"/>
              <a:ext cx="21833974" cy="43925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 dirty="0"/>
                <a:t>🔄 	</a:t>
              </a:r>
              <a:r>
                <a:rPr lang="en-IN" sz="4000" u="sng" dirty="0"/>
                <a:t>For Loop</a:t>
              </a:r>
              <a:r>
                <a:rPr lang="en-IN" sz="4000" dirty="0"/>
                <a:t>: Count &amp; Repeat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600" dirty="0"/>
                <a:t>Used when you know exactly how many times to loop.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 dirty="0"/>
                <a:t>Real-World Analogy:</a:t>
              </a:r>
              <a:r>
                <a:rPr lang="en-US" sz="3500" dirty="0"/>
                <a:t> Climbing exactly 10 steps in a staircase.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Eg : Calculate the total price of items in a shopping cart: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5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6707D5E-58BA-10E7-B970-D2F7A7745E77}"/>
                </a:ext>
              </a:extLst>
            </p:cNvPr>
            <p:cNvSpPr txBox="1"/>
            <p:nvPr/>
          </p:nvSpPr>
          <p:spPr>
            <a:xfrm>
              <a:off x="0" y="-9525"/>
              <a:ext cx="15443230" cy="251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B0F5D6A-B1AE-49C9-5CBF-33FAB51E8485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44639A-19E3-6CBC-52E8-B784067F915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D67CE1E-F963-594D-296D-80685F805379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For Loop </a:t>
            </a:r>
            <a:endParaRPr lang="en-GB" sz="9000" dirty="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F7E62EF-8572-317C-E5DB-D3D6DE70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25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DD2348-3E09-81D1-17DD-05E392A6A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164" y="4947872"/>
            <a:ext cx="12299233" cy="482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60573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CDC4E-63D5-F936-6D91-5C75978B4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385CD4-688F-F5E8-AA84-65AEAB8E7A35}"/>
              </a:ext>
            </a:extLst>
          </p:cNvPr>
          <p:cNvSpPr/>
          <p:nvPr/>
        </p:nvSpPr>
        <p:spPr>
          <a:xfrm>
            <a:off x="-1526918" y="-77331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352B927-6D95-02EF-48FC-4C5FE515BB13}"/>
              </a:ext>
            </a:extLst>
          </p:cNvPr>
          <p:cNvSpPr/>
          <p:nvPr/>
        </p:nvSpPr>
        <p:spPr>
          <a:xfrm>
            <a:off x="-1526918" y="198331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63AAE95-A215-F17C-089C-D8206CBA0577}"/>
              </a:ext>
            </a:extLst>
          </p:cNvPr>
          <p:cNvGrpSpPr/>
          <p:nvPr/>
        </p:nvGrpSpPr>
        <p:grpSpPr>
          <a:xfrm>
            <a:off x="1675044" y="1507310"/>
            <a:ext cx="15497475" cy="7303154"/>
            <a:chOff x="-2712268" y="-3291065"/>
            <a:chExt cx="21833974" cy="394384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AFE8A44-BC32-6681-B321-228643307758}"/>
                </a:ext>
              </a:extLst>
            </p:cNvPr>
            <p:cNvSpPr txBox="1"/>
            <p:nvPr/>
          </p:nvSpPr>
          <p:spPr>
            <a:xfrm>
              <a:off x="-2712268" y="-3291065"/>
              <a:ext cx="21833974" cy="39438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 dirty="0"/>
                <a:t>🔄 	</a:t>
              </a:r>
              <a:r>
                <a:rPr lang="en-IN" sz="4000" u="sng" dirty="0"/>
                <a:t>Foreach Loop</a:t>
              </a:r>
              <a:r>
                <a:rPr lang="en-IN" sz="4000" dirty="0"/>
                <a:t>: Go Through the Collection</a:t>
              </a:r>
            </a:p>
            <a:p>
              <a:pPr marL="571500" indent="-5715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 dirty="0"/>
                <a:t>Runs once for every item in a list, array, or collection.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 dirty="0"/>
                <a:t>Real-World Analogy:</a:t>
              </a:r>
              <a:r>
                <a:rPr lang="en-US" sz="3500" dirty="0"/>
                <a:t> Calling each friend in your contact list.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Eg : Displaying Product Names in an E-commerce App</a:t>
              </a: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5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238879F-C65F-F380-50D1-D75DB721B17C}"/>
                </a:ext>
              </a:extLst>
            </p:cNvPr>
            <p:cNvSpPr txBox="1"/>
            <p:nvPr/>
          </p:nvSpPr>
          <p:spPr>
            <a:xfrm>
              <a:off x="0" y="-9525"/>
              <a:ext cx="15443230" cy="251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170F637-D2E5-A1BD-0FFA-301D9A07262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B601317-CE6D-3AB9-6960-085C3E1FFA5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BD73FAD-FE76-1337-7ED5-5B9C4817930D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Foreach Loop </a:t>
            </a:r>
            <a:endParaRPr lang="en-GB" sz="9000" dirty="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10BE114-0915-9108-A461-C4937EBF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26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F389D9-16E2-E222-DA64-B91F02C02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415" y="5158887"/>
            <a:ext cx="13501820" cy="462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59100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3143953"/>
            <a:ext cx="14535120" cy="2033069"/>
            <a:chOff x="-2918087" y="-1990758"/>
            <a:chExt cx="21900210" cy="269703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1990758"/>
              <a:ext cx="21900210" cy="8786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Wingdings"/>
                <a:buChar char="Ø"/>
              </a:pPr>
              <a:endParaRPr lang="en-US" sz="3200" dirty="0">
                <a:solidFill>
                  <a:srgbClr val="FFFFFF"/>
                </a:solidFill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3048000" y="487200"/>
            <a:ext cx="1167995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Use Cases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27</a:t>
            </a:fld>
            <a:endParaRPr lang="en-GB" sz="20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6A938BC-0804-A4A5-BC80-EB88EEE90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629327"/>
              </p:ext>
            </p:extLst>
          </p:nvPr>
        </p:nvGraphicFramePr>
        <p:xfrm>
          <a:off x="1622141" y="1884344"/>
          <a:ext cx="15454563" cy="7613853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4082176">
                  <a:extLst>
                    <a:ext uri="{9D8B030D-6E8A-4147-A177-3AD203B41FA5}">
                      <a16:colId xmlns:a16="http://schemas.microsoft.com/office/drawing/2014/main" val="1001791572"/>
                    </a:ext>
                  </a:extLst>
                </a:gridCol>
                <a:gridCol w="5705342">
                  <a:extLst>
                    <a:ext uri="{9D8B030D-6E8A-4147-A177-3AD203B41FA5}">
                      <a16:colId xmlns:a16="http://schemas.microsoft.com/office/drawing/2014/main" val="3784285369"/>
                    </a:ext>
                  </a:extLst>
                </a:gridCol>
                <a:gridCol w="5667045">
                  <a:extLst>
                    <a:ext uri="{9D8B030D-6E8A-4147-A177-3AD203B41FA5}">
                      <a16:colId xmlns:a16="http://schemas.microsoft.com/office/drawing/2014/main" val="306827126"/>
                    </a:ext>
                  </a:extLst>
                </a:gridCol>
              </a:tblGrid>
              <a:tr h="888353">
                <a:tc>
                  <a:txBody>
                    <a:bodyPr/>
                    <a:lstStyle/>
                    <a:p>
                      <a:pPr algn="ctr"/>
                      <a:r>
                        <a:rPr lang="en-IN" sz="3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Construct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Real-World application scenario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Why its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022846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tx1"/>
                          </a:solidFill>
                        </a:rPr>
                        <a:t>Value Types</a:t>
                      </a:r>
                      <a:r>
                        <a:rPr lang="en-IN" sz="3000" dirty="0">
                          <a:solidFill>
                            <a:schemeClr val="tx1"/>
                          </a:solidFill>
                        </a:rPr>
                        <a:t> (int, double, bool)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Financial apps (e.g., counters, amounts, flags)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Store small, immutable values with high performance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194448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Reference Types</a:t>
                      </a: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 (class, string, array, List&lt;T&gt;)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Modeling users, carts, and shared data in web or enterprise systems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Enable complex, mutable objects and shared state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257537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Operators &amp; Conditions</a:t>
                      </a: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 (e.g., &amp;&amp;, ==, if)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E-commerce checkout eligibility, business rule validations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>
                          <a:solidFill>
                            <a:schemeClr val="tx1"/>
                          </a:solidFill>
                        </a:rPr>
                        <a:t>Combine criteria and steer application logic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478369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tx1"/>
                          </a:solidFill>
                        </a:rPr>
                        <a:t>for Loop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Batch processing daily records or fixed-length data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Efficient for array indexing and summarizing data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922888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tx1"/>
                          </a:solidFill>
                        </a:rPr>
                        <a:t>foreach loop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Iterating through orders, UI lists, API collections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Clean, safe iteration without managing indices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93842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while Loop</a:t>
                      </a:r>
                      <a:endParaRPr lang="en-IN" sz="3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Validating user input until correct, processing streams or queues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chemeClr val="tx1"/>
                          </a:solidFill>
                        </a:rPr>
                        <a:t>Handles unknown-length tasks flexibly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126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988106" y="1801016"/>
            <a:ext cx="10295587" cy="6924973"/>
            <a:chOff x="-54125" y="-1033640"/>
            <a:chExt cx="13727449" cy="9233293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54125" y="-1033640"/>
              <a:ext cx="13250213" cy="9233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  <a:sym typeface="Assistant Regular"/>
              </a:endParaRPr>
            </a:p>
            <a:p>
              <a:pPr marL="514350" indent="-514350">
                <a:buFont typeface="+mj-lt"/>
                <a:buAutoNum type="arabicPeriod"/>
              </a:pPr>
              <a:r>
                <a:rPr lang="en-US" sz="3000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  <a:sym typeface="Assistant Regular"/>
                </a:rPr>
                <a:t> </a:t>
              </a:r>
              <a:r>
                <a:rPr lang="en-IN" sz="3000" dirty="0"/>
                <a:t>Write a console program that takes a meter serial number as input and prints it.</a:t>
              </a:r>
            </a:p>
            <a:p>
              <a:pPr marL="781050" lvl="2">
                <a:lnSpc>
                  <a:spcPts val="3600"/>
                </a:lnSpc>
              </a:pPr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Sample Input :</a:t>
              </a:r>
            </a:p>
            <a:p>
              <a:pPr marL="781050" lvl="2">
                <a:lnSpc>
                  <a:spcPts val="3600"/>
                </a:lnSpc>
              </a:pPr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Expected Output :</a:t>
              </a:r>
            </a:p>
            <a:p>
              <a:pPr marL="781050" lvl="2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28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45802C-11AD-587C-7132-D6AAFB16D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4033548"/>
            <a:ext cx="7863133" cy="1056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BA11B5-01E3-8C62-A23D-05B016ED3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1227" y="6596551"/>
            <a:ext cx="7664821" cy="105654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9E6D-86DB-4425-BF9D-3D3D123D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DC1319-42A7-CD48-C82B-5D0A8379BB15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928F6A8-33F3-4426-4E38-88C89D9E4F8C}"/>
              </a:ext>
            </a:extLst>
          </p:cNvPr>
          <p:cNvGrpSpPr/>
          <p:nvPr/>
        </p:nvGrpSpPr>
        <p:grpSpPr>
          <a:xfrm>
            <a:off x="988106" y="1420592"/>
            <a:ext cx="13409196" cy="7445816"/>
            <a:chOff x="-1" y="-5751"/>
            <a:chExt cx="17878928" cy="992775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9EE0FD8-FE9F-35EA-2481-66EB9552E3F5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160095E-4B72-EB90-4E06-2DEED8E05530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466DD8D-DAA6-A213-55C4-B0B4C15EF8EA}"/>
                </a:ext>
              </a:extLst>
            </p:cNvPr>
            <p:cNvSpPr txBox="1"/>
            <p:nvPr/>
          </p:nvSpPr>
          <p:spPr>
            <a:xfrm>
              <a:off x="-1" y="688706"/>
              <a:ext cx="17878928" cy="9233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  <a:sym typeface="Assistant Regular"/>
              </a:endParaRPr>
            </a:p>
            <a:p>
              <a:pPr marL="514350" indent="-514350">
                <a:buFont typeface="+mj-lt"/>
                <a:buAutoNum type="arabicPeriod" startAt="2"/>
              </a:pPr>
              <a:r>
                <a:rPr lang="en-IN" sz="3000" dirty="0"/>
                <a:t>Create a program that checks if a meter's reading is within a valid range (100–200).</a:t>
              </a:r>
            </a:p>
            <a:p>
              <a:pPr marL="514350" indent="-514350">
                <a:buFont typeface="+mj-lt"/>
                <a:buAutoNum type="arabicPeriod" startAt="2"/>
              </a:pPr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Sample Input :</a:t>
              </a: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Expected Output :</a:t>
              </a: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7E5E2F5-D484-40A8-A7F9-0B64198BCE74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FD85ACE9-38DE-0317-3736-4A96EAD3220B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5622ADC-BBE2-E0AB-B92D-8EA41E0B07AE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9D30310-230C-C470-7B21-414575FCBC3D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0DA3942-D0FF-935A-14F1-0D29042E3E42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547415C-1781-AD5B-3F8C-6BD72931DEAC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F99729-6DD3-B8E5-9D70-62CB61E52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29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48883B-66D0-FD6A-B109-40EDEC8B2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7524" y="4020170"/>
            <a:ext cx="6166476" cy="1003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079810-9739-E645-86FE-2510AAD4BF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1986" y="6468372"/>
            <a:ext cx="8229737" cy="268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28432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67281-B5B2-7C7C-E4AA-C6344A85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3D23EF0-F297-A286-35B0-A835E0BB24AD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5B329B-452B-8FAC-4FC4-7298BC85E4CD}"/>
              </a:ext>
            </a:extLst>
          </p:cNvPr>
          <p:cNvGrpSpPr/>
          <p:nvPr/>
        </p:nvGrpSpPr>
        <p:grpSpPr>
          <a:xfrm>
            <a:off x="988106" y="958927"/>
            <a:ext cx="12230100" cy="8830810"/>
            <a:chOff x="0" y="-5751"/>
            <a:chExt cx="16306800" cy="1177440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E136A6A-F6A6-E46C-9FEF-4D0DFD379FFF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8E8FE73-FBFF-C6D9-2B6B-FFCE2ACB4DA8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1860ED7-4B2E-F709-BD92-7767E7421927}"/>
                </a:ext>
              </a:extLst>
            </p:cNvPr>
            <p:cNvSpPr txBox="1"/>
            <p:nvPr/>
          </p:nvSpPr>
          <p:spPr>
            <a:xfrm>
              <a:off x="0" y="688706"/>
              <a:ext cx="16306800" cy="110799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  <a:sym typeface="Assistant Regular"/>
              </a:endParaRPr>
            </a:p>
            <a:p>
              <a:pPr marL="514350" indent="-514350">
                <a:buFont typeface="+mj-lt"/>
                <a:buAutoNum type="arabicPeriod" startAt="3"/>
              </a:pPr>
              <a:r>
                <a:rPr lang="en-US" sz="3000" dirty="0"/>
                <a:t>Create a student grade evaluator that takes scores for five subjects, calculates average, assigns a grade, and flags failing marks using loops and conditional logic.</a:t>
              </a:r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	Sample Input:</a:t>
              </a:r>
            </a:p>
            <a:p>
              <a:pPr lvl="2"/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         Expected Output:</a:t>
              </a:r>
            </a:p>
            <a:p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71F62FC-87F7-C084-F8F1-86549F9EFA0E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15D7CC0B-C27B-16AA-3170-55E1315EC845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5C1F848-170D-10FD-9B7D-355D3C375D86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6B2142D-5C3D-A568-151D-A1D3599BF297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F052267-8FDB-0B06-5481-C3C2F5CB09AD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28B0679-1775-7007-1575-4DD9357C39A9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FBC8076-0FF9-CEDB-3291-1D7B80AA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30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63FA19-BAB3-72B7-3C1E-7EFF9B9468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081" y="3371835"/>
            <a:ext cx="7347227" cy="1963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60CAA-6A59-9CEE-2411-A10943B323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9837" y="5800654"/>
            <a:ext cx="7347227" cy="388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17552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746EA-9A93-5DD2-823B-B95697CC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999D55-AD20-298D-2F60-D98CE71FA3F5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2FCDA7C-731E-CFD4-6722-18C405A1F190}"/>
              </a:ext>
            </a:extLst>
          </p:cNvPr>
          <p:cNvGrpSpPr/>
          <p:nvPr/>
        </p:nvGrpSpPr>
        <p:grpSpPr>
          <a:xfrm>
            <a:off x="988106" y="863387"/>
            <a:ext cx="13746079" cy="7907481"/>
            <a:chOff x="-1" y="-5751"/>
            <a:chExt cx="18328105" cy="1054330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5D67874-C847-636E-DD65-69A16260E996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65EDB94-3EB3-1155-4DDA-FA584A4140D2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FA917AA-8ABC-4C74-462B-543A6519C16B}"/>
                </a:ext>
              </a:extLst>
            </p:cNvPr>
            <p:cNvSpPr txBox="1"/>
            <p:nvPr/>
          </p:nvSpPr>
          <p:spPr>
            <a:xfrm>
              <a:off x="-1" y="688706"/>
              <a:ext cx="18328105" cy="98488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>
                <a:buFont typeface="+mj-lt"/>
                <a:buAutoNum type="arabicPeriod" startAt="4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  <a:sym typeface="Assistant Regular"/>
              </a:endParaRPr>
            </a:p>
            <a:p>
              <a:pPr marL="514350" indent="-514350">
                <a:buFont typeface="+mj-lt"/>
                <a:buAutoNum type="arabicPeriod" startAt="4"/>
              </a:pPr>
              <a:r>
                <a:rPr lang="en-US" sz="3000" dirty="0"/>
                <a:t>Develop a number analysis tool that accepts a list of integers from the user, then calculates and displays the sum, average, highest, and lowest numbers using loops and arithmetic operators.</a:t>
              </a:r>
              <a:endParaRPr lang="en-IN" sz="3000" dirty="0"/>
            </a:p>
            <a:p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	Sample Input :</a:t>
              </a:r>
            </a:p>
            <a:p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r>
                <a:rPr lang="en-US" sz="3000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	</a:t>
              </a:r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Expected Output:</a:t>
              </a: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A2CCCDB-E2E2-B1A5-D2E5-C9C22FD997E3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94380E8D-B992-2D5C-9FBE-9E72DAD00969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5725FA1-E8F9-7D7E-D5DF-4DB72790B277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AE0C0E7-A038-F9CB-377E-1086E1583EFF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11193DF-1A53-3E3D-D708-D35FF62EC57E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97D80B5-E6DD-BCD6-D39D-75D1BA513D94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E0D89C3-E6A6-5948-DC70-0307D958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31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B827D4-0A2F-2B34-56B5-706CE9E7C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475" y="3240826"/>
            <a:ext cx="6638474" cy="21050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F19054-F11D-F17B-4A70-D4E94A2C8D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370" y="5950634"/>
            <a:ext cx="6412683" cy="294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45669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371717" y="253977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 dirty="0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 dirty="0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97413" y="4848635"/>
            <a:ext cx="10734543" cy="407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 algn="just">
              <a:lnSpc>
                <a:spcPts val="3600"/>
              </a:lnSpc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44" y="96207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32</a:t>
            </a:fld>
            <a:endParaRPr lang="en-GB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97FB0-DF7F-8F7A-832D-5227C5755A00}"/>
              </a:ext>
            </a:extLst>
          </p:cNvPr>
          <p:cNvSpPr txBox="1"/>
          <p:nvPr/>
        </p:nvSpPr>
        <p:spPr>
          <a:xfrm>
            <a:off x="416105" y="1200539"/>
            <a:ext cx="18125423" cy="9023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 dirty="0"/>
              <a:t>Task 1: Meter Serial Number Input &amp; Print</a:t>
            </a:r>
            <a:endParaRPr lang="en-IN" sz="3000" dirty="0"/>
          </a:p>
          <a:p>
            <a:pPr>
              <a:lnSpc>
                <a:spcPct val="150000"/>
              </a:lnSpc>
            </a:pPr>
            <a:r>
              <a:rPr lang="en-IN" sz="3000" b="1" dirty="0"/>
              <a:t> </a:t>
            </a:r>
            <a:r>
              <a:rPr lang="en-IN" sz="3000" b="1" u="sng" dirty="0"/>
              <a:t>Original Task:</a:t>
            </a:r>
            <a:endParaRPr lang="en-IN" sz="3000" u="sng" dirty="0"/>
          </a:p>
          <a:p>
            <a:pPr>
              <a:lnSpc>
                <a:spcPct val="150000"/>
              </a:lnSpc>
            </a:pPr>
            <a:r>
              <a:rPr lang="en-IN" sz="3000" dirty="0"/>
              <a:t>Take a meter serial number as input and print it.</a:t>
            </a:r>
          </a:p>
          <a:p>
            <a:pPr>
              <a:lnSpc>
                <a:spcPct val="150000"/>
              </a:lnSpc>
            </a:pPr>
            <a:r>
              <a:rPr lang="en-IN" sz="3000" dirty="0"/>
              <a:t> </a:t>
            </a:r>
            <a:r>
              <a:rPr lang="en-IN" sz="3000" u="sng" dirty="0"/>
              <a:t>Stretch Goals: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 Input Validation: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dirty="0"/>
              <a:t>Ensure the serial number follows a specific format like MTR-YYYY-XXX (e.g., MTR-2025-A1B2) using Regex.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 Duplication Check: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dirty="0"/>
              <a:t>Allow the user to enter multiple serial numbers and store them in a list.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dirty="0"/>
              <a:t>Prevent duplicate entries and show a warning if one is repeated.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 File I/O: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dirty="0"/>
              <a:t>Save all entered serial numbers into a text file (serials.txt), one per line.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 Checksum Validation: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Add logic to validate a simple checksum (e.g., last 2 digits must equal the sum of the digits in the year).</a:t>
            </a:r>
          </a:p>
        </p:txBody>
      </p:sp>
    </p:spTree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98375" y="4718313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.Net(C#)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52408" y="4718313"/>
            <a:ext cx="527224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Data Types,variables,Operators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41075" y="5747149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38650" y="5747149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Conditions , Loops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744" y="96024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33</a:t>
            </a:fld>
            <a:endParaRPr lang="en-GB" sz="2000"/>
          </a:p>
        </p:txBody>
      </p:sp>
    </p:spTree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8" y="1632045"/>
            <a:ext cx="11229428" cy="847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US" sz="3200" dirty="0">
                <a:hlinkClick r:id="rId4"/>
              </a:rPr>
              <a:t>Introduction to .NET - .NET | Microsoft Learn</a:t>
            </a:r>
            <a:endParaRPr lang="en-US" sz="32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432" y="94195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34</a:t>
            </a:fld>
            <a:endParaRPr lang="en-GB" sz="2000"/>
          </a:p>
        </p:txBody>
      </p:sp>
    </p:spTree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4436" y="938767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35</a:t>
            </a:fld>
            <a:endParaRPr lang="en-GB" sz="200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334A554D3A384490F35006611FA8EF" ma:contentTypeVersion="0" ma:contentTypeDescription="Create a new document." ma:contentTypeScope="" ma:versionID="598969a31df7af5a49b560e013d986e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78A224-2253-46AE-B9C7-BDB4E810F71E}"/>
</file>

<file path=customXml/itemProps2.xml><?xml version="1.0" encoding="utf-8"?>
<ds:datastoreItem xmlns:ds="http://schemas.openxmlformats.org/officeDocument/2006/customXml" ds:itemID="{75FFA716-D389-41C9-8C4C-B0785AFB22D8}"/>
</file>

<file path=customXml/itemProps3.xml><?xml version="1.0" encoding="utf-8"?>
<ds:datastoreItem xmlns:ds="http://schemas.openxmlformats.org/officeDocument/2006/customXml" ds:itemID="{1BCF229B-FB18-476F-AE9D-35AFD6F766A8}"/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1667</Words>
  <Application>Microsoft Office PowerPoint</Application>
  <PresentationFormat>Custom</PresentationFormat>
  <Paragraphs>423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Assistant Regular Bold</vt:lpstr>
      <vt:lpstr>Aptos</vt:lpstr>
      <vt:lpstr>Wingdings</vt:lpstr>
      <vt:lpstr>Assistant Regular</vt:lpstr>
      <vt:lpstr>Arial</vt:lpstr>
      <vt:lpstr>Horizon</vt:lpstr>
      <vt:lpstr>HK Modular</vt:lpstr>
      <vt:lpstr>Agrandir</vt:lpstr>
      <vt:lpstr>Heebo Black</vt:lpstr>
      <vt:lpstr>Courier New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dc:creator>HP</dc:creator>
  <cp:lastModifiedBy>Krishna Raj</cp:lastModifiedBy>
  <cp:revision>83</cp:revision>
  <dcterms:created xsi:type="dcterms:W3CDTF">2006-08-16T00:00:00Z</dcterms:created>
  <dcterms:modified xsi:type="dcterms:W3CDTF">2025-09-10T05:31:30Z</dcterms:modified>
  <dc:identifier>DAGpXxrSFgM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0x01010020334A554D3A384490F35006611FA8EF</vt:lpwstr>
  </property>
</Properties>
</file>